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a28ad5-1172-0506-3767-445e50db3ba9}">
          <p14:sldIdLst>
            <p14:sldId id="256"/>
            <p14:sldId id="257"/>
          </p14:sldIdLst>
        </p14:section>
        <p14:section name="Problem" id="{d9d4499f-149a-52ec-04aa-4a544171dc84}">
          <p14:sldIdLst>
            <p14:sldId id="258"/>
            <p14:sldId id="259"/>
            <p14:sldId id="260"/>
          </p14:sldIdLst>
        </p14:section>
        <p14:section name="Solution" id="{508dff87-18ca-8b1b-b11d-4ab112db2234}">
          <p14:sldIdLst>
            <p14:sldId id="261"/>
            <p14:sldId id="262"/>
            <p14:sldId id="263"/>
          </p14:sldIdLst>
        </p14:section>
        <p14:section name="Close" id="{bfa935c2-5386-d41f-3c07-0f704e1da7df}">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booking system where students find vacant rooms and faculty approve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users: students who request, faculty who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statement, then point to the three visible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pain points of manual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goals the system is built to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from login to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that make up the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is plain web tech plus Supabase. The exclusion constraint is the key technical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15544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548640" y="2926080"/>
            <a:ext cx="4754880" cy="82296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470916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Roomwise: Lab and Classroom Booking System</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1554480"/>
          </a:xfrm>
          <a:prstGeom prst="rect">
            <a:avLst/>
          </a:prstGeom>
          <a:noFill/>
          <a:ln/>
        </p:spPr>
        <p:txBody>
          <a:bodyPr wrap="square" lIns="0" tIns="0" rIns="0" bIns="0" rtlCol="0" anchor="t"/>
          <a:lstStyle/>
          <a:p>
            <a:pPr algn="l" indent="0" marL="0">
              <a:buNone/>
            </a:pPr>
            <a:r>
              <a:rPr lang="en-US" sz="4000" b="1" dirty="0">
                <a:solidFill>
                  <a:schemeClr val="tx1"/>
                </a:solidFill>
              </a:rPr>
              <a:t>Lab and Classroom Booking System</a:t>
            </a:r>
            <a:endParaRPr lang="en-US" sz="4000" dirty="0"/>
          </a:p>
        </p:txBody>
      </p:sp>
      <p:sp>
        <p:nvSpPr>
          <p:cNvPr id="3" name="Text 0"/>
          <p:cNvSpPr/>
          <p:nvPr>
            <p:ph idx="101" type="body" hasCustomPrompt="1"/>
          </p:nvPr>
        </p:nvSpPr>
        <p:spPr>
          <a:xfrm>
            <a:off x="548640" y="2926080"/>
            <a:ext cx="4754880" cy="822960"/>
          </a:xfrm>
          <a:prstGeom prst="rect">
            <a:avLst/>
          </a:prstGeom>
          <a:noFill/>
          <a:ln/>
        </p:spPr>
        <p:txBody>
          <a:bodyPr wrap="square" lIns="0" tIns="0" rIns="0" bIns="0" rtlCol="0" anchor="t"/>
          <a:lstStyle/>
          <a:p>
            <a:pPr indent="0" marL="0">
              <a:buNone/>
            </a:pPr>
            <a:r>
              <a:rPr lang="en-US" sz="1800" dirty="0">
                <a:solidFill>
                  <a:schemeClr val="accent4"/>
                </a:solidFill>
              </a:rPr>
              <a:t>Search vacant rooms, send a request, and get faculty approval in one place.</a:t>
            </a:r>
            <a:endParaRPr lang="en-US" sz="1800" dirty="0"/>
          </a:p>
        </p:txBody>
      </p:sp>
      <p:sp>
        <p:nvSpPr>
          <p:cNvPr id="4" name="Presenter"/>
          <p:cNvSpPr txBox="1"/>
          <p:nvPr/>
        </p:nvSpPr>
        <p:spPr>
          <a:xfrm>
            <a:off x="548640" y="3931920"/>
            <a:ext cx="4937760" cy="731520"/>
          </a:xfrm>
          <a:prstGeom prst="rect">
            <a:avLst/>
          </a:prstGeom>
          <a:noFill/>
          <a:ln/>
        </p:spPr>
        <p:txBody>
          <a:bodyPr wrap="square" lIns="0" tIns="0" rIns="0" bIns="0" rtlCol="0" anchor="t"/>
          <a:lstStyle/>
          <a:p>
            <a:pPr indent="0" marL="0">
              <a:buNone/>
            </a:pPr>
            <a:r>
              <a:rPr lang="en-US" sz="1200" dirty="0">
                <a:solidFill>
                  <a:schemeClr val="accent4"/>
                </a:solidFill>
              </a:rPr>
              <a:t>Presented by Tony</a:t>
            </a:r>
            <a:endParaRPr lang="en-US" sz="1200" dirty="0"/>
          </a:p>
          <a:p>
            <a:pPr indent="0" marL="0">
              <a:buNone/>
            </a:pPr>
            <a:r>
              <a:rPr lang="en-US" sz="1200" dirty="0">
                <a:solidFill>
                  <a:schemeClr val="accent4"/>
                </a:solidFill>
              </a:rPr>
              <a:t>B.Tech Computer Science and Engineering</a:t>
            </a:r>
            <a:endParaRPr lang="en-US" sz="1200" dirty="0"/>
          </a:p>
          <a:p>
            <a:pPr indent="0" marL="0">
              <a:buNone/>
            </a:pPr>
            <a:r>
              <a:rPr lang="en-US" sz="1200" dirty="0">
                <a:solidFill>
                  <a:schemeClr val="accent4"/>
                </a:solidFill>
              </a:rPr>
              <a:t>Viswajyothi College of Engineering and Technology</a:t>
            </a:r>
            <a:endParaRPr lang="en-US" sz="1200" dirty="0"/>
          </a:p>
        </p:txBody>
      </p:sp>
      <p:sp>
        <p:nvSpPr>
          <p:cNvPr id="5" name="Slot 0-0"/>
          <p:cNvSpPr/>
          <p:nvPr/>
        </p:nvSpPr>
        <p:spPr>
          <a:xfrm>
            <a:off x="6035040" y="1005840"/>
            <a:ext cx="548640" cy="548640"/>
          </a:xfrm>
          <a:prstGeom prst="roundRect">
            <a:avLst>
              <a:gd name="adj" fmla="val 13333"/>
            </a:avLst>
          </a:prstGeom>
          <a:solidFill>
            <a:schemeClr val="accent6"/>
          </a:solidFill>
          <a:ln/>
        </p:spPr>
      </p:sp>
      <p:sp>
        <p:nvSpPr>
          <p:cNvPr id="6" name="Slot 0-1"/>
          <p:cNvSpPr/>
          <p:nvPr/>
        </p:nvSpPr>
        <p:spPr>
          <a:xfrm>
            <a:off x="6693408" y="1005840"/>
            <a:ext cx="548640" cy="548640"/>
          </a:xfrm>
          <a:prstGeom prst="roundRect">
            <a:avLst>
              <a:gd name="adj" fmla="val 13333"/>
            </a:avLst>
          </a:prstGeom>
          <a:solidFill>
            <a:schemeClr val="accent1"/>
          </a:solidFill>
          <a:ln/>
        </p:spPr>
      </p:sp>
      <p:sp>
        <p:nvSpPr>
          <p:cNvPr id="7" name="Slot 0-2"/>
          <p:cNvSpPr/>
          <p:nvPr/>
        </p:nvSpPr>
        <p:spPr>
          <a:xfrm>
            <a:off x="7351776" y="1005840"/>
            <a:ext cx="548640" cy="548640"/>
          </a:xfrm>
          <a:prstGeom prst="roundRect">
            <a:avLst>
              <a:gd name="adj" fmla="val 13333"/>
            </a:avLst>
          </a:prstGeom>
          <a:solidFill>
            <a:schemeClr val="accent6"/>
          </a:solidFill>
          <a:ln/>
        </p:spPr>
      </p:sp>
      <p:sp>
        <p:nvSpPr>
          <p:cNvPr id="8" name="Slot 0-3"/>
          <p:cNvSpPr/>
          <p:nvPr/>
        </p:nvSpPr>
        <p:spPr>
          <a:xfrm>
            <a:off x="8010144" y="1005840"/>
            <a:ext cx="548640" cy="548640"/>
          </a:xfrm>
          <a:prstGeom prst="roundRect">
            <a:avLst>
              <a:gd name="adj" fmla="val 13333"/>
            </a:avLst>
          </a:prstGeom>
          <a:solidFill>
            <a:schemeClr val="accent6"/>
          </a:solidFill>
          <a:ln/>
        </p:spPr>
      </p:sp>
      <p:sp>
        <p:nvSpPr>
          <p:cNvPr id="9" name="Slot 1-0"/>
          <p:cNvSpPr/>
          <p:nvPr/>
        </p:nvSpPr>
        <p:spPr>
          <a:xfrm>
            <a:off x="6035040" y="1664208"/>
            <a:ext cx="548640" cy="548640"/>
          </a:xfrm>
          <a:prstGeom prst="roundRect">
            <a:avLst>
              <a:gd name="adj" fmla="val 13333"/>
            </a:avLst>
          </a:prstGeom>
          <a:solidFill>
            <a:schemeClr val="accent1"/>
          </a:solidFill>
          <a:ln/>
        </p:spPr>
      </p:sp>
      <p:sp>
        <p:nvSpPr>
          <p:cNvPr id="10" name="Slot 1-1"/>
          <p:cNvSpPr/>
          <p:nvPr/>
        </p:nvSpPr>
        <p:spPr>
          <a:xfrm>
            <a:off x="6693408" y="1664208"/>
            <a:ext cx="548640" cy="548640"/>
          </a:xfrm>
          <a:prstGeom prst="roundRect">
            <a:avLst>
              <a:gd name="adj" fmla="val 13333"/>
            </a:avLst>
          </a:prstGeom>
          <a:solidFill>
            <a:schemeClr val="accent1"/>
          </a:solidFill>
          <a:ln/>
        </p:spPr>
      </p:sp>
      <p:sp>
        <p:nvSpPr>
          <p:cNvPr id="11" name="Slot 1-2"/>
          <p:cNvSpPr/>
          <p:nvPr/>
        </p:nvSpPr>
        <p:spPr>
          <a:xfrm>
            <a:off x="7351776" y="1664208"/>
            <a:ext cx="548640" cy="548640"/>
          </a:xfrm>
          <a:prstGeom prst="roundRect">
            <a:avLst>
              <a:gd name="adj" fmla="val 13333"/>
            </a:avLst>
          </a:prstGeom>
          <a:solidFill>
            <a:schemeClr val="accent6"/>
          </a:solidFill>
          <a:ln/>
        </p:spPr>
      </p:sp>
      <p:sp>
        <p:nvSpPr>
          <p:cNvPr id="12" name="Slot 1-3"/>
          <p:cNvSpPr/>
          <p:nvPr/>
        </p:nvSpPr>
        <p:spPr>
          <a:xfrm>
            <a:off x="8010144" y="1664208"/>
            <a:ext cx="548640" cy="548640"/>
          </a:xfrm>
          <a:prstGeom prst="roundRect">
            <a:avLst>
              <a:gd name="adj" fmla="val 13333"/>
            </a:avLst>
          </a:prstGeom>
          <a:solidFill>
            <a:schemeClr val="accent2"/>
          </a:solidFill>
          <a:ln/>
        </p:spPr>
      </p:sp>
      <p:sp>
        <p:nvSpPr>
          <p:cNvPr id="13" name="Slot 2-0"/>
          <p:cNvSpPr/>
          <p:nvPr/>
        </p:nvSpPr>
        <p:spPr>
          <a:xfrm>
            <a:off x="6035040" y="2322576"/>
            <a:ext cx="548640" cy="548640"/>
          </a:xfrm>
          <a:prstGeom prst="roundRect">
            <a:avLst>
              <a:gd name="adj" fmla="val 13333"/>
            </a:avLst>
          </a:prstGeom>
          <a:solidFill>
            <a:schemeClr val="accent6"/>
          </a:solidFill>
          <a:ln/>
        </p:spPr>
      </p:sp>
      <p:sp>
        <p:nvSpPr>
          <p:cNvPr id="14" name="Slot 2-1"/>
          <p:cNvSpPr/>
          <p:nvPr/>
        </p:nvSpPr>
        <p:spPr>
          <a:xfrm>
            <a:off x="6693408" y="2322576"/>
            <a:ext cx="548640" cy="548640"/>
          </a:xfrm>
          <a:prstGeom prst="roundRect">
            <a:avLst>
              <a:gd name="adj" fmla="val 13333"/>
            </a:avLst>
          </a:prstGeom>
          <a:solidFill>
            <a:schemeClr val="accent6"/>
          </a:solidFill>
          <a:ln/>
        </p:spPr>
      </p:sp>
      <p:sp>
        <p:nvSpPr>
          <p:cNvPr id="15" name="Slot 2-2"/>
          <p:cNvSpPr/>
          <p:nvPr/>
        </p:nvSpPr>
        <p:spPr>
          <a:xfrm>
            <a:off x="7351776" y="2322576"/>
            <a:ext cx="548640" cy="548640"/>
          </a:xfrm>
          <a:prstGeom prst="roundRect">
            <a:avLst>
              <a:gd name="adj" fmla="val 13333"/>
            </a:avLst>
          </a:prstGeom>
          <a:solidFill>
            <a:schemeClr val="accent1"/>
          </a:solidFill>
          <a:ln/>
        </p:spPr>
      </p:sp>
      <p:sp>
        <p:nvSpPr>
          <p:cNvPr id="16" name="Slot 2-3"/>
          <p:cNvSpPr/>
          <p:nvPr/>
        </p:nvSpPr>
        <p:spPr>
          <a:xfrm>
            <a:off x="8010144" y="2322576"/>
            <a:ext cx="548640" cy="548640"/>
          </a:xfrm>
          <a:prstGeom prst="roundRect">
            <a:avLst>
              <a:gd name="adj" fmla="val 13333"/>
            </a:avLst>
          </a:prstGeom>
          <a:solidFill>
            <a:schemeClr val="accent6"/>
          </a:solidFill>
          <a:ln/>
        </p:spPr>
      </p:sp>
      <p:sp>
        <p:nvSpPr>
          <p:cNvPr id="17" name="Slot 3-0"/>
          <p:cNvSpPr/>
          <p:nvPr/>
        </p:nvSpPr>
        <p:spPr>
          <a:xfrm>
            <a:off x="6035040" y="2980944"/>
            <a:ext cx="548640" cy="548640"/>
          </a:xfrm>
          <a:prstGeom prst="roundRect">
            <a:avLst>
              <a:gd name="adj" fmla="val 13333"/>
            </a:avLst>
          </a:prstGeom>
          <a:solidFill>
            <a:schemeClr val="accent2"/>
          </a:solidFill>
          <a:ln/>
        </p:spPr>
      </p:sp>
      <p:sp>
        <p:nvSpPr>
          <p:cNvPr id="18" name="Slot 3-1"/>
          <p:cNvSpPr/>
          <p:nvPr/>
        </p:nvSpPr>
        <p:spPr>
          <a:xfrm>
            <a:off x="6693408" y="2980944"/>
            <a:ext cx="548640" cy="548640"/>
          </a:xfrm>
          <a:prstGeom prst="roundRect">
            <a:avLst>
              <a:gd name="adj" fmla="val 13333"/>
            </a:avLst>
          </a:prstGeom>
          <a:solidFill>
            <a:schemeClr val="accent6"/>
          </a:solidFill>
          <a:ln/>
        </p:spPr>
      </p:sp>
      <p:sp>
        <p:nvSpPr>
          <p:cNvPr id="19" name="Slot 3-2"/>
          <p:cNvSpPr/>
          <p:nvPr/>
        </p:nvSpPr>
        <p:spPr>
          <a:xfrm>
            <a:off x="7351776" y="2980944"/>
            <a:ext cx="548640" cy="548640"/>
          </a:xfrm>
          <a:prstGeom prst="roundRect">
            <a:avLst>
              <a:gd name="adj" fmla="val 13333"/>
            </a:avLst>
          </a:prstGeom>
          <a:solidFill>
            <a:schemeClr val="accent1"/>
          </a:solidFill>
          <a:ln/>
        </p:spPr>
      </p:sp>
      <p:sp>
        <p:nvSpPr>
          <p:cNvPr id="20" name="Slot 3-3"/>
          <p:cNvSpPr/>
          <p:nvPr/>
        </p:nvSpPr>
        <p:spPr>
          <a:xfrm>
            <a:off x="8010144" y="2980944"/>
            <a:ext cx="548640" cy="548640"/>
          </a:xfrm>
          <a:prstGeom prst="roundRect">
            <a:avLst>
              <a:gd name="adj" fmla="val 13333"/>
            </a:avLst>
          </a:prstGeom>
          <a:solidFill>
            <a:schemeClr val="accent1"/>
          </a:solidFill>
          <a:ln/>
        </p:spPr>
      </p:sp>
      <p:sp>
        <p:nvSpPr>
          <p:cNvPr id="21" name="Slot 4-0"/>
          <p:cNvSpPr/>
          <p:nvPr/>
        </p:nvSpPr>
        <p:spPr>
          <a:xfrm>
            <a:off x="6035040" y="3639312"/>
            <a:ext cx="548640" cy="548640"/>
          </a:xfrm>
          <a:prstGeom prst="roundRect">
            <a:avLst>
              <a:gd name="adj" fmla="val 13333"/>
            </a:avLst>
          </a:prstGeom>
          <a:solidFill>
            <a:schemeClr val="accent6"/>
          </a:solidFill>
          <a:ln/>
        </p:spPr>
      </p:sp>
      <p:sp>
        <p:nvSpPr>
          <p:cNvPr id="22" name="Slot 4-1"/>
          <p:cNvSpPr/>
          <p:nvPr/>
        </p:nvSpPr>
        <p:spPr>
          <a:xfrm>
            <a:off x="6693408" y="3639312"/>
            <a:ext cx="548640" cy="548640"/>
          </a:xfrm>
          <a:prstGeom prst="roundRect">
            <a:avLst>
              <a:gd name="adj" fmla="val 13333"/>
            </a:avLst>
          </a:prstGeom>
          <a:solidFill>
            <a:schemeClr val="accent1"/>
          </a:solidFill>
          <a:ln/>
        </p:spPr>
      </p:sp>
      <p:sp>
        <p:nvSpPr>
          <p:cNvPr id="23" name="Slot 4-2"/>
          <p:cNvSpPr/>
          <p:nvPr/>
        </p:nvSpPr>
        <p:spPr>
          <a:xfrm>
            <a:off x="7351776" y="3639312"/>
            <a:ext cx="548640" cy="548640"/>
          </a:xfrm>
          <a:prstGeom prst="roundRect">
            <a:avLst>
              <a:gd name="adj" fmla="val 13333"/>
            </a:avLst>
          </a:prstGeom>
          <a:solidFill>
            <a:schemeClr val="accent6"/>
          </a:solidFill>
          <a:ln/>
        </p:spPr>
      </p:sp>
      <p:sp>
        <p:nvSpPr>
          <p:cNvPr id="24" name="Slot 4-3"/>
          <p:cNvSpPr/>
          <p:nvPr/>
        </p:nvSpPr>
        <p:spPr>
          <a:xfrm>
            <a:off x="8010144" y="3639312"/>
            <a:ext cx="548640" cy="548640"/>
          </a:xfrm>
          <a:prstGeom prst="roundRect">
            <a:avLst>
              <a:gd name="adj" fmla="val 13333"/>
            </a:avLst>
          </a:prstGeom>
          <a:solidFill>
            <a:schemeClr val="accent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Project overview</a:t>
            </a:r>
            <a:endParaRPr lang="en-US" sz="3400" dirty="0"/>
          </a:p>
        </p:txBody>
      </p:sp>
      <p:sp>
        <p:nvSpPr>
          <p:cNvPr id="3" name="Text 1"/>
          <p:cNvSpPr txBox="1"/>
          <p:nvPr/>
        </p:nvSpPr>
        <p:spPr>
          <a:xfrm>
            <a:off x="548640" y="1371600"/>
            <a:ext cx="4206240" cy="1463040"/>
          </a:xfrm>
          <a:prstGeom prst="rect">
            <a:avLst/>
          </a:prstGeom>
          <a:noFill/>
          <a:ln/>
        </p:spPr>
        <p:txBody>
          <a:bodyPr wrap="square" lIns="0" tIns="0" rIns="0" bIns="0" rtlCol="0" anchor="t"/>
          <a:lstStyle/>
          <a:p>
            <a:pPr indent="0" marL="0">
              <a:buNone/>
            </a:pPr>
            <a:r>
              <a:rPr lang="en-US" sz="1800" dirty="0">
                <a:solidFill>
                  <a:schemeClr val="tx1"/>
                </a:solidFill>
              </a:rPr>
              <a:t>Roomwise is a web app where students find vacant labs and classrooms and request them, and faculty approve or reject each request.</a:t>
            </a:r>
            <a:endParaRPr lang="en-US" sz="1800" dirty="0"/>
          </a:p>
        </p:txBody>
      </p:sp>
      <p:sp>
        <p:nvSpPr>
          <p:cNvPr id="4" name="Text 2"/>
          <p:cNvSpPr txBox="1"/>
          <p:nvPr/>
        </p:nvSpPr>
        <p:spPr>
          <a:xfrm>
            <a:off x="548640" y="3017520"/>
            <a:ext cx="4206240" cy="914400"/>
          </a:xfrm>
          <a:prstGeom prst="rect">
            <a:avLst/>
          </a:prstGeom>
          <a:noFill/>
          <a:ln/>
        </p:spPr>
        <p:txBody>
          <a:bodyPr wrap="square" lIns="0" tIns="0" rIns="0" bIns="0" rtlCol="0" anchor="t"/>
          <a:lstStyle/>
          <a:p>
            <a:pPr indent="0" marL="0">
              <a:buNone/>
            </a:pPr>
            <a:r>
              <a:rPr lang="en-US" sz="1800" dirty="0">
                <a:solidFill>
                  <a:schemeClr val="accent4"/>
                </a:solidFill>
              </a:rPr>
              <a:t>It replaces registers and chat messages with one shared schedule that is always up to date.</a:t>
            </a:r>
            <a:endParaRPr lang="en-US" sz="1800" dirty="0"/>
          </a:p>
        </p:txBody>
      </p:sp>
      <p:sp>
        <p:nvSpPr>
          <p:cNvPr id="5" name="Role card 1"/>
          <p:cNvSpPr/>
          <p:nvPr/>
        </p:nvSpPr>
        <p:spPr>
          <a:xfrm>
            <a:off x="5120640" y="1371600"/>
            <a:ext cx="3474720" cy="1371600"/>
          </a:xfrm>
          <a:prstGeom prst="roundRect">
            <a:avLst>
              <a:gd name="adj" fmla="val 8000"/>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6" name="Students icon circle"/>
          <p:cNvSpPr/>
          <p:nvPr/>
        </p:nvSpPr>
        <p:spPr>
          <a:xfrm>
            <a:off x="5349240" y="1737360"/>
            <a:ext cx="640080" cy="640080"/>
          </a:xfrm>
          <a:prstGeom prst="ellipse">
            <a:avLst/>
          </a:prstGeom>
          <a:solidFill>
            <a:schemeClr val="accent6"/>
          </a:solidFill>
          <a:ln/>
        </p:spPr>
      </p:sp>
      <p:pic>
        <p:nvPicPr>
          <p:cNvPr id="7" name="Students icon" descr="Students icon">    </p:cNvPr>
          <p:cNvPicPr>
            <a:picLocks noChangeAspect="1"/>
          </p:cNvPicPr>
          <p:nvPr/>
        </p:nvPicPr>
        <p:blipFill>
          <a:blip r:embed="rId1"/>
          <a:stretch>
            <a:fillRect/>
          </a:stretch>
        </p:blipFill>
        <p:spPr>
          <a:xfrm>
            <a:off x="5509260" y="1897380"/>
            <a:ext cx="320040" cy="320040"/>
          </a:xfrm>
          <a:prstGeom prst="rect">
            <a:avLst/>
          </a:prstGeom>
        </p:spPr>
      </p:pic>
      <p:sp>
        <p:nvSpPr>
          <p:cNvPr id="8" name="Text 5"/>
          <p:cNvSpPr txBox="1"/>
          <p:nvPr/>
        </p:nvSpPr>
        <p:spPr>
          <a:xfrm>
            <a:off x="6172200" y="1554480"/>
            <a:ext cx="2286000" cy="320040"/>
          </a:xfrm>
          <a:prstGeom prst="rect">
            <a:avLst/>
          </a:prstGeom>
          <a:noFill/>
          <a:ln/>
        </p:spPr>
        <p:txBody>
          <a:bodyPr wrap="square" lIns="0" tIns="0" rIns="0" bIns="0" rtlCol="0" anchor="t"/>
          <a:lstStyle/>
          <a:p>
            <a:pPr indent="0" marL="0">
              <a:buNone/>
            </a:pPr>
            <a:r>
              <a:rPr lang="en-US" sz="1800" b="1" dirty="0">
                <a:solidFill>
                  <a:schemeClr val="tx1"/>
                </a:solidFill>
              </a:rPr>
              <a:t>Students</a:t>
            </a:r>
            <a:endParaRPr lang="en-US" sz="1800" dirty="0"/>
          </a:p>
        </p:txBody>
      </p:sp>
      <p:sp>
        <p:nvSpPr>
          <p:cNvPr id="9" name="Text 6"/>
          <p:cNvSpPr txBox="1"/>
          <p:nvPr/>
        </p:nvSpPr>
        <p:spPr>
          <a:xfrm>
            <a:off x="6172200" y="1901952"/>
            <a:ext cx="2286000" cy="731520"/>
          </a:xfrm>
          <a:prstGeom prst="rect">
            <a:avLst/>
          </a:prstGeom>
          <a:noFill/>
          <a:ln/>
        </p:spPr>
        <p:txBody>
          <a:bodyPr wrap="square" lIns="0" tIns="0" rIns="0" bIns="0" rtlCol="0" anchor="t"/>
          <a:lstStyle/>
          <a:p>
            <a:pPr indent="0" marL="0">
              <a:buNone/>
            </a:pPr>
            <a:r>
              <a:rPr lang="en-US" sz="1400" dirty="0">
                <a:solidFill>
                  <a:schemeClr val="accent4"/>
                </a:solidFill>
              </a:rPr>
              <a:t>Search vacant rooms by date, time, seats, and type, then send a request.</a:t>
            </a:r>
            <a:endParaRPr lang="en-US" sz="1400" dirty="0"/>
          </a:p>
        </p:txBody>
      </p:sp>
      <p:sp>
        <p:nvSpPr>
          <p:cNvPr id="10" name="Role card 2"/>
          <p:cNvSpPr/>
          <p:nvPr/>
        </p:nvSpPr>
        <p:spPr>
          <a:xfrm>
            <a:off x="5120640" y="2926080"/>
            <a:ext cx="3474720" cy="1371600"/>
          </a:xfrm>
          <a:prstGeom prst="roundRect">
            <a:avLst>
              <a:gd name="adj" fmla="val 8000"/>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11" name="Faculty icon circle"/>
          <p:cNvSpPr/>
          <p:nvPr/>
        </p:nvSpPr>
        <p:spPr>
          <a:xfrm>
            <a:off x="5349240" y="3291840"/>
            <a:ext cx="640080" cy="640080"/>
          </a:xfrm>
          <a:prstGeom prst="ellipse">
            <a:avLst/>
          </a:prstGeom>
          <a:solidFill>
            <a:schemeClr val="accent6"/>
          </a:solidFill>
          <a:ln/>
        </p:spPr>
      </p:sp>
      <p:pic>
        <p:nvPicPr>
          <p:cNvPr id="12" name="Faculty icon" descr="Faculty icon">    </p:cNvPr>
          <p:cNvPicPr>
            <a:picLocks noChangeAspect="1"/>
          </p:cNvPicPr>
          <p:nvPr/>
        </p:nvPicPr>
        <p:blipFill>
          <a:blip r:embed="rId2"/>
          <a:stretch>
            <a:fillRect/>
          </a:stretch>
        </p:blipFill>
        <p:spPr>
          <a:xfrm>
            <a:off x="5509260" y="3451860"/>
            <a:ext cx="320040" cy="320040"/>
          </a:xfrm>
          <a:prstGeom prst="rect">
            <a:avLst/>
          </a:prstGeom>
        </p:spPr>
      </p:pic>
      <p:sp>
        <p:nvSpPr>
          <p:cNvPr id="13" name="Text 9"/>
          <p:cNvSpPr txBox="1"/>
          <p:nvPr/>
        </p:nvSpPr>
        <p:spPr>
          <a:xfrm>
            <a:off x="6172200" y="3108960"/>
            <a:ext cx="2286000" cy="320040"/>
          </a:xfrm>
          <a:prstGeom prst="rect">
            <a:avLst/>
          </a:prstGeom>
          <a:noFill/>
          <a:ln/>
        </p:spPr>
        <p:txBody>
          <a:bodyPr wrap="square" lIns="0" tIns="0" rIns="0" bIns="0" rtlCol="0" anchor="t"/>
          <a:lstStyle/>
          <a:p>
            <a:pPr indent="0" marL="0">
              <a:buNone/>
            </a:pPr>
            <a:r>
              <a:rPr lang="en-US" sz="1800" b="1" dirty="0">
                <a:solidFill>
                  <a:schemeClr val="tx1"/>
                </a:solidFill>
              </a:rPr>
              <a:t>Faculty</a:t>
            </a:r>
            <a:endParaRPr lang="en-US" sz="1800" dirty="0"/>
          </a:p>
        </p:txBody>
      </p:sp>
      <p:sp>
        <p:nvSpPr>
          <p:cNvPr id="14" name="Text 10"/>
          <p:cNvSpPr txBox="1"/>
          <p:nvPr/>
        </p:nvSpPr>
        <p:spPr>
          <a:xfrm>
            <a:off x="6172200" y="3456432"/>
            <a:ext cx="2286000" cy="731520"/>
          </a:xfrm>
          <a:prstGeom prst="rect">
            <a:avLst/>
          </a:prstGeom>
          <a:noFill/>
          <a:ln/>
        </p:spPr>
        <p:txBody>
          <a:bodyPr wrap="square" lIns="0" tIns="0" rIns="0" bIns="0" rtlCol="0" anchor="t"/>
          <a:lstStyle/>
          <a:p>
            <a:pPr indent="0" marL="0">
              <a:buNone/>
            </a:pPr>
            <a:r>
              <a:rPr lang="en-US" sz="1400" dirty="0">
                <a:solidFill>
                  <a:schemeClr val="accent4"/>
                </a:solidFill>
              </a:rPr>
              <a:t>Review every request in one list and approve or reject with a note.</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Problem statement</a:t>
            </a:r>
            <a:endParaRPr lang="en-US" sz="3400" dirty="0"/>
          </a:p>
        </p:txBody>
      </p:sp>
      <p:sp>
        <p:nvSpPr>
          <p:cNvPr id="3" name="Statement card"/>
          <p:cNvSpPr/>
          <p:nvPr/>
        </p:nvSpPr>
        <p:spPr>
          <a:xfrm>
            <a:off x="548640" y="1325880"/>
            <a:ext cx="8046720" cy="2103120"/>
          </a:xfrm>
          <a:prstGeom prst="roundRect">
            <a:avLst>
              <a:gd name="adj" fmla="val 5217"/>
            </a:avLst>
          </a:prstGeom>
          <a:solidFill>
            <a:schemeClr val="bg2"/>
          </a:solidFill>
          <a:ln w="9525">
            <a:solidFill>
              <a:srgbClr val="DCE6E4"/>
            </a:solidFill>
            <a:prstDash val="solid"/>
          </a:ln>
        </p:spPr>
      </p:sp>
      <p:sp>
        <p:nvSpPr>
          <p:cNvPr id="4" name="Quote icon circle"/>
          <p:cNvSpPr/>
          <p:nvPr/>
        </p:nvSpPr>
        <p:spPr>
          <a:xfrm>
            <a:off x="868680" y="1645920"/>
            <a:ext cx="731520" cy="731520"/>
          </a:xfrm>
          <a:prstGeom prst="ellipse">
            <a:avLst/>
          </a:prstGeom>
          <a:solidFill>
            <a:schemeClr val="bg1"/>
          </a:solidFill>
          <a:ln/>
        </p:spPr>
      </p:sp>
      <p:pic>
        <p:nvPicPr>
          <p:cNvPr id="5" name="Quote icon" descr="Quote icon">    </p:cNvPr>
          <p:cNvPicPr>
            <a:picLocks noChangeAspect="1"/>
          </p:cNvPicPr>
          <p:nvPr/>
        </p:nvPicPr>
        <p:blipFill>
          <a:blip r:embed="rId1"/>
          <a:stretch>
            <a:fillRect/>
          </a:stretch>
        </p:blipFill>
        <p:spPr>
          <a:xfrm>
            <a:off x="1051560" y="1828800"/>
            <a:ext cx="365760" cy="365760"/>
          </a:xfrm>
          <a:prstGeom prst="rect">
            <a:avLst/>
          </a:prstGeom>
        </p:spPr>
      </p:pic>
      <p:sp>
        <p:nvSpPr>
          <p:cNvPr id="6" name="Text 3"/>
          <p:cNvSpPr txBox="1"/>
          <p:nvPr/>
        </p:nvSpPr>
        <p:spPr>
          <a:xfrm>
            <a:off x="1874520" y="1554480"/>
            <a:ext cx="6400800" cy="1645920"/>
          </a:xfrm>
          <a:prstGeom prst="rect">
            <a:avLst/>
          </a:prstGeom>
          <a:noFill/>
          <a:ln/>
        </p:spPr>
        <p:txBody>
          <a:bodyPr wrap="square" lIns="0" tIns="0" rIns="0" bIns="0" rtlCol="0" anchor="ctr"/>
          <a:lstStyle/>
          <a:p>
            <a:pPr indent="0" marL="0">
              <a:buNone/>
            </a:pPr>
            <a:r>
              <a:rPr lang="en-US" sz="1800" dirty="0">
                <a:solidFill>
                  <a:schemeClr val="tx1"/>
                </a:solidFill>
              </a:rPr>
              <a:t>Colleges book labs and classrooms through registers, WhatsApp messages, and verbal requests. This causes double bookings, idle rooms, no visibility into what is free, and no record of who used what.</a:t>
            </a:r>
            <a:endParaRPr lang="en-US" sz="1800" dirty="0"/>
          </a:p>
        </p:txBody>
      </p:sp>
      <p:sp>
        <p:nvSpPr>
          <p:cNvPr id="7" name="Chip 1"/>
          <p:cNvSpPr/>
          <p:nvPr/>
        </p:nvSpPr>
        <p:spPr>
          <a:xfrm>
            <a:off x="548640" y="3703320"/>
            <a:ext cx="2560320" cy="685800"/>
          </a:xfrm>
          <a:prstGeom prst="roundRect">
            <a:avLst>
              <a:gd name="adj" fmla="val 16000"/>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8" name="Double bookings icon circle"/>
          <p:cNvSpPr/>
          <p:nvPr/>
        </p:nvSpPr>
        <p:spPr>
          <a:xfrm>
            <a:off x="731520" y="3813048"/>
            <a:ext cx="457200" cy="457200"/>
          </a:xfrm>
          <a:prstGeom prst="ellipse">
            <a:avLst/>
          </a:prstGeom>
          <a:solidFill>
            <a:schemeClr val="accent6"/>
          </a:solidFill>
          <a:ln/>
        </p:spPr>
      </p:sp>
      <p:pic>
        <p:nvPicPr>
          <p:cNvPr id="9" name="Double bookings icon" descr="Double bookings icon">    </p:cNvPr>
          <p:cNvPicPr>
            <a:picLocks noChangeAspect="1"/>
          </p:cNvPicPr>
          <p:nvPr/>
        </p:nvPicPr>
        <p:blipFill>
          <a:blip r:embed="rId2"/>
          <a:stretch>
            <a:fillRect/>
          </a:stretch>
        </p:blipFill>
        <p:spPr>
          <a:xfrm>
            <a:off x="845820" y="3927348"/>
            <a:ext cx="228600" cy="228600"/>
          </a:xfrm>
          <a:prstGeom prst="rect">
            <a:avLst/>
          </a:prstGeom>
        </p:spPr>
      </p:pic>
      <p:sp>
        <p:nvSpPr>
          <p:cNvPr id="10" name="Text 6"/>
          <p:cNvSpPr txBox="1"/>
          <p:nvPr/>
        </p:nvSpPr>
        <p:spPr>
          <a:xfrm>
            <a:off x="1325880" y="3703320"/>
            <a:ext cx="1737360" cy="685800"/>
          </a:xfrm>
          <a:prstGeom prst="rect">
            <a:avLst/>
          </a:prstGeom>
          <a:noFill/>
          <a:ln/>
        </p:spPr>
        <p:txBody>
          <a:bodyPr wrap="square" lIns="0" tIns="0" rIns="0" bIns="0" rtlCol="0" anchor="ctr"/>
          <a:lstStyle/>
          <a:p>
            <a:pPr indent="0" marL="0">
              <a:buNone/>
            </a:pPr>
            <a:r>
              <a:rPr lang="en-US" sz="1600" b="1" dirty="0">
                <a:solidFill>
                  <a:schemeClr val="tx1"/>
                </a:solidFill>
              </a:rPr>
              <a:t>Double bookings</a:t>
            </a:r>
            <a:endParaRPr lang="en-US" sz="1600" dirty="0"/>
          </a:p>
        </p:txBody>
      </p:sp>
      <p:sp>
        <p:nvSpPr>
          <p:cNvPr id="11" name="Chip 2"/>
          <p:cNvSpPr/>
          <p:nvPr/>
        </p:nvSpPr>
        <p:spPr>
          <a:xfrm>
            <a:off x="3291840" y="3703320"/>
            <a:ext cx="2560320" cy="685800"/>
          </a:xfrm>
          <a:prstGeom prst="roundRect">
            <a:avLst>
              <a:gd name="adj" fmla="val 16000"/>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12" name="Idle rooms icon circle"/>
          <p:cNvSpPr/>
          <p:nvPr/>
        </p:nvSpPr>
        <p:spPr>
          <a:xfrm>
            <a:off x="3474720" y="3813048"/>
            <a:ext cx="457200" cy="457200"/>
          </a:xfrm>
          <a:prstGeom prst="ellipse">
            <a:avLst/>
          </a:prstGeom>
          <a:solidFill>
            <a:schemeClr val="accent6"/>
          </a:solidFill>
          <a:ln/>
        </p:spPr>
      </p:sp>
      <p:pic>
        <p:nvPicPr>
          <p:cNvPr id="13" name="Idle rooms icon" descr="Idle rooms icon">    </p:cNvPr>
          <p:cNvPicPr>
            <a:picLocks noChangeAspect="1"/>
          </p:cNvPicPr>
          <p:nvPr/>
        </p:nvPicPr>
        <p:blipFill>
          <a:blip r:embed="rId3"/>
          <a:stretch>
            <a:fillRect/>
          </a:stretch>
        </p:blipFill>
        <p:spPr>
          <a:xfrm>
            <a:off x="3589020" y="3927348"/>
            <a:ext cx="228600" cy="228600"/>
          </a:xfrm>
          <a:prstGeom prst="rect">
            <a:avLst/>
          </a:prstGeom>
        </p:spPr>
      </p:pic>
      <p:sp>
        <p:nvSpPr>
          <p:cNvPr id="14" name="Text 9"/>
          <p:cNvSpPr txBox="1"/>
          <p:nvPr/>
        </p:nvSpPr>
        <p:spPr>
          <a:xfrm>
            <a:off x="4069080" y="3703320"/>
            <a:ext cx="1737360" cy="685800"/>
          </a:xfrm>
          <a:prstGeom prst="rect">
            <a:avLst/>
          </a:prstGeom>
          <a:noFill/>
          <a:ln/>
        </p:spPr>
        <p:txBody>
          <a:bodyPr wrap="square" lIns="0" tIns="0" rIns="0" bIns="0" rtlCol="0" anchor="ctr"/>
          <a:lstStyle/>
          <a:p>
            <a:pPr indent="0" marL="0">
              <a:buNone/>
            </a:pPr>
            <a:r>
              <a:rPr lang="en-US" sz="1600" b="1" dirty="0">
                <a:solidFill>
                  <a:schemeClr val="tx1"/>
                </a:solidFill>
              </a:rPr>
              <a:t>Idle rooms</a:t>
            </a:r>
            <a:endParaRPr lang="en-US" sz="1600" dirty="0"/>
          </a:p>
        </p:txBody>
      </p:sp>
      <p:sp>
        <p:nvSpPr>
          <p:cNvPr id="15" name="Chip 3"/>
          <p:cNvSpPr/>
          <p:nvPr/>
        </p:nvSpPr>
        <p:spPr>
          <a:xfrm>
            <a:off x="6035040" y="3703320"/>
            <a:ext cx="2560320" cy="685800"/>
          </a:xfrm>
          <a:prstGeom prst="roundRect">
            <a:avLst>
              <a:gd name="adj" fmla="val 16000"/>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16" name="No usage records icon circle"/>
          <p:cNvSpPr/>
          <p:nvPr/>
        </p:nvSpPr>
        <p:spPr>
          <a:xfrm>
            <a:off x="6217920" y="3813048"/>
            <a:ext cx="457200" cy="457200"/>
          </a:xfrm>
          <a:prstGeom prst="ellipse">
            <a:avLst/>
          </a:prstGeom>
          <a:solidFill>
            <a:schemeClr val="accent6"/>
          </a:solidFill>
          <a:ln/>
        </p:spPr>
      </p:sp>
      <p:pic>
        <p:nvPicPr>
          <p:cNvPr id="17" name="No usage records icon" descr="No usage records icon">    </p:cNvPr>
          <p:cNvPicPr>
            <a:picLocks noChangeAspect="1"/>
          </p:cNvPicPr>
          <p:nvPr/>
        </p:nvPicPr>
        <p:blipFill>
          <a:blip r:embed="rId4"/>
          <a:stretch>
            <a:fillRect/>
          </a:stretch>
        </p:blipFill>
        <p:spPr>
          <a:xfrm>
            <a:off x="6332220" y="3927348"/>
            <a:ext cx="228600" cy="228600"/>
          </a:xfrm>
          <a:prstGeom prst="rect">
            <a:avLst/>
          </a:prstGeom>
        </p:spPr>
      </p:pic>
      <p:sp>
        <p:nvSpPr>
          <p:cNvPr id="18" name="Text 12"/>
          <p:cNvSpPr txBox="1"/>
          <p:nvPr/>
        </p:nvSpPr>
        <p:spPr>
          <a:xfrm>
            <a:off x="6812280" y="3703320"/>
            <a:ext cx="1737360" cy="685800"/>
          </a:xfrm>
          <a:prstGeom prst="rect">
            <a:avLst/>
          </a:prstGeom>
          <a:noFill/>
          <a:ln/>
        </p:spPr>
        <p:txBody>
          <a:bodyPr wrap="square" lIns="0" tIns="0" rIns="0" bIns="0" rtlCol="0" anchor="ctr"/>
          <a:lstStyle/>
          <a:p>
            <a:pPr indent="0" marL="0">
              <a:buNone/>
            </a:pPr>
            <a:r>
              <a:rPr lang="en-US" sz="1600" b="1" dirty="0">
                <a:solidFill>
                  <a:schemeClr val="tx1"/>
                </a:solidFill>
              </a:rPr>
              <a:t>No usage records</a:t>
            </a:r>
            <a:endParaRPr lang="en-US" sz="1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Why the current system fails</a:t>
            </a:r>
            <a:endParaRPr lang="en-US" sz="3400" dirty="0"/>
          </a:p>
        </p:txBody>
      </p:sp>
      <p:sp>
        <p:nvSpPr>
          <p:cNvPr id="3" name="Issue card 1"/>
          <p:cNvSpPr/>
          <p:nvPr/>
        </p:nvSpPr>
        <p:spPr>
          <a:xfrm>
            <a:off x="548640" y="1280160"/>
            <a:ext cx="3931920" cy="1371600"/>
          </a:xfrm>
          <a:prstGeom prst="roundRect">
            <a:avLst>
              <a:gd name="adj" fmla="val 8000"/>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4" name="Double bookings icon circle"/>
          <p:cNvSpPr/>
          <p:nvPr/>
        </p:nvSpPr>
        <p:spPr>
          <a:xfrm>
            <a:off x="777240" y="1691640"/>
            <a:ext cx="548640" cy="548640"/>
          </a:xfrm>
          <a:prstGeom prst="ellipse">
            <a:avLst/>
          </a:prstGeom>
          <a:solidFill>
            <a:schemeClr val="accent6"/>
          </a:solidFill>
          <a:ln/>
        </p:spPr>
      </p:sp>
      <p:pic>
        <p:nvPicPr>
          <p:cNvPr id="5" name="Double bookings icon" descr="Double bookings icon">    </p:cNvPr>
          <p:cNvPicPr>
            <a:picLocks noChangeAspect="1"/>
          </p:cNvPicPr>
          <p:nvPr/>
        </p:nvPicPr>
        <p:blipFill>
          <a:blip r:embed="rId1"/>
          <a:stretch>
            <a:fillRect/>
          </a:stretch>
        </p:blipFill>
        <p:spPr>
          <a:xfrm>
            <a:off x="914400" y="1828800"/>
            <a:ext cx="274320" cy="274320"/>
          </a:xfrm>
          <a:prstGeom prst="rect">
            <a:avLst/>
          </a:prstGeom>
        </p:spPr>
      </p:pic>
      <p:sp>
        <p:nvSpPr>
          <p:cNvPr id="6" name="Text 3"/>
          <p:cNvSpPr txBox="1"/>
          <p:nvPr/>
        </p:nvSpPr>
        <p:spPr>
          <a:xfrm>
            <a:off x="1554480" y="1481328"/>
            <a:ext cx="2743200" cy="320040"/>
          </a:xfrm>
          <a:prstGeom prst="rect">
            <a:avLst/>
          </a:prstGeom>
          <a:noFill/>
          <a:ln/>
        </p:spPr>
        <p:txBody>
          <a:bodyPr wrap="square" lIns="0" tIns="0" rIns="0" bIns="0" rtlCol="0" anchor="t"/>
          <a:lstStyle/>
          <a:p>
            <a:pPr indent="0" marL="0">
              <a:buNone/>
            </a:pPr>
            <a:r>
              <a:rPr lang="en-US" sz="1800" b="1" dirty="0">
                <a:solidFill>
                  <a:schemeClr val="tx1"/>
                </a:solidFill>
              </a:rPr>
              <a:t>Double bookings</a:t>
            </a:r>
            <a:endParaRPr lang="en-US" sz="1800" dirty="0"/>
          </a:p>
        </p:txBody>
      </p:sp>
      <p:sp>
        <p:nvSpPr>
          <p:cNvPr id="7" name="Text 4"/>
          <p:cNvSpPr txBox="1"/>
          <p:nvPr/>
        </p:nvSpPr>
        <p:spPr>
          <a:xfrm>
            <a:off x="1554480" y="1828800"/>
            <a:ext cx="2743200" cy="685800"/>
          </a:xfrm>
          <a:prstGeom prst="rect">
            <a:avLst/>
          </a:prstGeom>
          <a:noFill/>
          <a:ln/>
        </p:spPr>
        <p:txBody>
          <a:bodyPr wrap="square" lIns="0" tIns="0" rIns="0" bIns="0" rtlCol="0" anchor="t"/>
          <a:lstStyle/>
          <a:p>
            <a:pPr indent="0" marL="0">
              <a:buNone/>
            </a:pPr>
            <a:r>
              <a:rPr lang="en-US" sz="1400" dirty="0">
                <a:solidFill>
                  <a:schemeClr val="accent4"/>
                </a:solidFill>
              </a:rPr>
              <a:t>Two groups arrive for the same lab at the same time.</a:t>
            </a:r>
            <a:endParaRPr lang="en-US" sz="1400" dirty="0"/>
          </a:p>
        </p:txBody>
      </p:sp>
      <p:sp>
        <p:nvSpPr>
          <p:cNvPr id="8" name="Issue card 2"/>
          <p:cNvSpPr/>
          <p:nvPr/>
        </p:nvSpPr>
        <p:spPr>
          <a:xfrm>
            <a:off x="4663440" y="1280160"/>
            <a:ext cx="3931920" cy="1371600"/>
          </a:xfrm>
          <a:prstGeom prst="roundRect">
            <a:avLst>
              <a:gd name="adj" fmla="val 8000"/>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9" name="No visibility icon circle"/>
          <p:cNvSpPr/>
          <p:nvPr/>
        </p:nvSpPr>
        <p:spPr>
          <a:xfrm>
            <a:off x="4892040" y="1691640"/>
            <a:ext cx="548640" cy="548640"/>
          </a:xfrm>
          <a:prstGeom prst="ellipse">
            <a:avLst/>
          </a:prstGeom>
          <a:solidFill>
            <a:schemeClr val="accent6"/>
          </a:solidFill>
          <a:ln/>
        </p:spPr>
      </p:sp>
      <p:pic>
        <p:nvPicPr>
          <p:cNvPr id="10" name="No visibility icon" descr="No visibility icon">    </p:cNvPr>
          <p:cNvPicPr>
            <a:picLocks noChangeAspect="1"/>
          </p:cNvPicPr>
          <p:nvPr/>
        </p:nvPicPr>
        <p:blipFill>
          <a:blip r:embed="rId2"/>
          <a:stretch>
            <a:fillRect/>
          </a:stretch>
        </p:blipFill>
        <p:spPr>
          <a:xfrm>
            <a:off x="5029200" y="1828800"/>
            <a:ext cx="274320" cy="274320"/>
          </a:xfrm>
          <a:prstGeom prst="rect">
            <a:avLst/>
          </a:prstGeom>
        </p:spPr>
      </p:pic>
      <p:sp>
        <p:nvSpPr>
          <p:cNvPr id="11" name="Text 7"/>
          <p:cNvSpPr txBox="1"/>
          <p:nvPr/>
        </p:nvSpPr>
        <p:spPr>
          <a:xfrm>
            <a:off x="5669280" y="1481328"/>
            <a:ext cx="2743200" cy="320040"/>
          </a:xfrm>
          <a:prstGeom prst="rect">
            <a:avLst/>
          </a:prstGeom>
          <a:noFill/>
          <a:ln/>
        </p:spPr>
        <p:txBody>
          <a:bodyPr wrap="square" lIns="0" tIns="0" rIns="0" bIns="0" rtlCol="0" anchor="t"/>
          <a:lstStyle/>
          <a:p>
            <a:pPr indent="0" marL="0">
              <a:buNone/>
            </a:pPr>
            <a:r>
              <a:rPr lang="en-US" sz="1800" b="1" dirty="0">
                <a:solidFill>
                  <a:schemeClr val="tx1"/>
                </a:solidFill>
              </a:rPr>
              <a:t>No visibility</a:t>
            </a:r>
            <a:endParaRPr lang="en-US" sz="1800" dirty="0"/>
          </a:p>
        </p:txBody>
      </p:sp>
      <p:sp>
        <p:nvSpPr>
          <p:cNvPr id="12" name="Text 8"/>
          <p:cNvSpPr txBox="1"/>
          <p:nvPr/>
        </p:nvSpPr>
        <p:spPr>
          <a:xfrm>
            <a:off x="5669280" y="1828800"/>
            <a:ext cx="2743200" cy="685800"/>
          </a:xfrm>
          <a:prstGeom prst="rect">
            <a:avLst/>
          </a:prstGeom>
          <a:noFill/>
          <a:ln/>
        </p:spPr>
        <p:txBody>
          <a:bodyPr wrap="square" lIns="0" tIns="0" rIns="0" bIns="0" rtlCol="0" anchor="t"/>
          <a:lstStyle/>
          <a:p>
            <a:pPr indent="0" marL="0">
              <a:buNone/>
            </a:pPr>
            <a:r>
              <a:rPr lang="en-US" sz="1400" dirty="0">
                <a:solidFill>
                  <a:schemeClr val="accent4"/>
                </a:solidFill>
              </a:rPr>
              <a:t>Students cannot see which rooms are free without asking around.</a:t>
            </a:r>
            <a:endParaRPr lang="en-US" sz="1400" dirty="0"/>
          </a:p>
        </p:txBody>
      </p:sp>
      <p:sp>
        <p:nvSpPr>
          <p:cNvPr id="13" name="Issue card 3"/>
          <p:cNvSpPr/>
          <p:nvPr/>
        </p:nvSpPr>
        <p:spPr>
          <a:xfrm>
            <a:off x="548640" y="2834640"/>
            <a:ext cx="3931920" cy="1371600"/>
          </a:xfrm>
          <a:prstGeom prst="roundRect">
            <a:avLst>
              <a:gd name="adj" fmla="val 8000"/>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14" name="Slow approvals icon circle"/>
          <p:cNvSpPr/>
          <p:nvPr/>
        </p:nvSpPr>
        <p:spPr>
          <a:xfrm>
            <a:off x="777240" y="3246120"/>
            <a:ext cx="548640" cy="548640"/>
          </a:xfrm>
          <a:prstGeom prst="ellipse">
            <a:avLst/>
          </a:prstGeom>
          <a:solidFill>
            <a:schemeClr val="accent6"/>
          </a:solidFill>
          <a:ln/>
        </p:spPr>
      </p:sp>
      <p:pic>
        <p:nvPicPr>
          <p:cNvPr id="15" name="Slow approvals icon" descr="Slow approvals icon">    </p:cNvPr>
          <p:cNvPicPr>
            <a:picLocks noChangeAspect="1"/>
          </p:cNvPicPr>
          <p:nvPr/>
        </p:nvPicPr>
        <p:blipFill>
          <a:blip r:embed="rId3"/>
          <a:stretch>
            <a:fillRect/>
          </a:stretch>
        </p:blipFill>
        <p:spPr>
          <a:xfrm>
            <a:off x="914400" y="3383280"/>
            <a:ext cx="274320" cy="274320"/>
          </a:xfrm>
          <a:prstGeom prst="rect">
            <a:avLst/>
          </a:prstGeom>
        </p:spPr>
      </p:pic>
      <p:sp>
        <p:nvSpPr>
          <p:cNvPr id="16" name="Text 11"/>
          <p:cNvSpPr txBox="1"/>
          <p:nvPr/>
        </p:nvSpPr>
        <p:spPr>
          <a:xfrm>
            <a:off x="1554480" y="3035808"/>
            <a:ext cx="2743200" cy="320040"/>
          </a:xfrm>
          <a:prstGeom prst="rect">
            <a:avLst/>
          </a:prstGeom>
          <a:noFill/>
          <a:ln/>
        </p:spPr>
        <p:txBody>
          <a:bodyPr wrap="square" lIns="0" tIns="0" rIns="0" bIns="0" rtlCol="0" anchor="t"/>
          <a:lstStyle/>
          <a:p>
            <a:pPr indent="0" marL="0">
              <a:buNone/>
            </a:pPr>
            <a:r>
              <a:rPr lang="en-US" sz="1800" b="1" dirty="0">
                <a:solidFill>
                  <a:schemeClr val="tx1"/>
                </a:solidFill>
              </a:rPr>
              <a:t>Slow approvals</a:t>
            </a:r>
            <a:endParaRPr lang="en-US" sz="1800" dirty="0"/>
          </a:p>
        </p:txBody>
      </p:sp>
      <p:sp>
        <p:nvSpPr>
          <p:cNvPr id="17" name="Text 12"/>
          <p:cNvSpPr txBox="1"/>
          <p:nvPr/>
        </p:nvSpPr>
        <p:spPr>
          <a:xfrm>
            <a:off x="1554480" y="3383280"/>
            <a:ext cx="2743200" cy="685800"/>
          </a:xfrm>
          <a:prstGeom prst="rect">
            <a:avLst/>
          </a:prstGeom>
          <a:noFill/>
          <a:ln/>
        </p:spPr>
        <p:txBody>
          <a:bodyPr wrap="square" lIns="0" tIns="0" rIns="0" bIns="0" rtlCol="0" anchor="t"/>
          <a:lstStyle/>
          <a:p>
            <a:pPr indent="0" marL="0">
              <a:buNone/>
            </a:pPr>
            <a:r>
              <a:rPr lang="en-US" sz="1400" dirty="0">
                <a:solidFill>
                  <a:schemeClr val="accent4"/>
                </a:solidFill>
              </a:rPr>
              <a:t>Faculty chase requests over calls and chat messages.</a:t>
            </a:r>
            <a:endParaRPr lang="en-US" sz="1400" dirty="0"/>
          </a:p>
        </p:txBody>
      </p:sp>
      <p:sp>
        <p:nvSpPr>
          <p:cNvPr id="18" name="Issue card 4"/>
          <p:cNvSpPr/>
          <p:nvPr/>
        </p:nvSpPr>
        <p:spPr>
          <a:xfrm>
            <a:off x="4663440" y="2834640"/>
            <a:ext cx="3931920" cy="1371600"/>
          </a:xfrm>
          <a:prstGeom prst="roundRect">
            <a:avLst>
              <a:gd name="adj" fmla="val 8000"/>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19" name="No records icon circle"/>
          <p:cNvSpPr/>
          <p:nvPr/>
        </p:nvSpPr>
        <p:spPr>
          <a:xfrm>
            <a:off x="4892040" y="3246120"/>
            <a:ext cx="548640" cy="548640"/>
          </a:xfrm>
          <a:prstGeom prst="ellipse">
            <a:avLst/>
          </a:prstGeom>
          <a:solidFill>
            <a:schemeClr val="accent6"/>
          </a:solidFill>
          <a:ln/>
        </p:spPr>
      </p:sp>
      <p:pic>
        <p:nvPicPr>
          <p:cNvPr id="20" name="No records icon" descr="No records icon">    </p:cNvPr>
          <p:cNvPicPr>
            <a:picLocks noChangeAspect="1"/>
          </p:cNvPicPr>
          <p:nvPr/>
        </p:nvPicPr>
        <p:blipFill>
          <a:blip r:embed="rId4"/>
          <a:stretch>
            <a:fillRect/>
          </a:stretch>
        </p:blipFill>
        <p:spPr>
          <a:xfrm>
            <a:off x="5029200" y="3383280"/>
            <a:ext cx="274320" cy="274320"/>
          </a:xfrm>
          <a:prstGeom prst="rect">
            <a:avLst/>
          </a:prstGeom>
        </p:spPr>
      </p:pic>
      <p:sp>
        <p:nvSpPr>
          <p:cNvPr id="21" name="Text 15"/>
          <p:cNvSpPr txBox="1"/>
          <p:nvPr/>
        </p:nvSpPr>
        <p:spPr>
          <a:xfrm>
            <a:off x="5669280" y="3035808"/>
            <a:ext cx="2743200" cy="320040"/>
          </a:xfrm>
          <a:prstGeom prst="rect">
            <a:avLst/>
          </a:prstGeom>
          <a:noFill/>
          <a:ln/>
        </p:spPr>
        <p:txBody>
          <a:bodyPr wrap="square" lIns="0" tIns="0" rIns="0" bIns="0" rtlCol="0" anchor="t"/>
          <a:lstStyle/>
          <a:p>
            <a:pPr indent="0" marL="0">
              <a:buNone/>
            </a:pPr>
            <a:r>
              <a:rPr lang="en-US" sz="1800" b="1" dirty="0">
                <a:solidFill>
                  <a:schemeClr val="tx1"/>
                </a:solidFill>
              </a:rPr>
              <a:t>No records</a:t>
            </a:r>
            <a:endParaRPr lang="en-US" sz="1800" dirty="0"/>
          </a:p>
        </p:txBody>
      </p:sp>
      <p:sp>
        <p:nvSpPr>
          <p:cNvPr id="22" name="Text 16"/>
          <p:cNvSpPr txBox="1"/>
          <p:nvPr/>
        </p:nvSpPr>
        <p:spPr>
          <a:xfrm>
            <a:off x="5669280" y="3383280"/>
            <a:ext cx="2743200" cy="685800"/>
          </a:xfrm>
          <a:prstGeom prst="rect">
            <a:avLst/>
          </a:prstGeom>
          <a:noFill/>
          <a:ln/>
        </p:spPr>
        <p:txBody>
          <a:bodyPr wrap="square" lIns="0" tIns="0" rIns="0" bIns="0" rtlCol="0" anchor="t"/>
          <a:lstStyle/>
          <a:p>
            <a:pPr indent="0" marL="0">
              <a:buNone/>
            </a:pPr>
            <a:r>
              <a:rPr lang="en-US" sz="1400" dirty="0">
                <a:solidFill>
                  <a:schemeClr val="accent4"/>
                </a:solidFill>
              </a:rPr>
              <a:t>Nobody can tell who used a room or how often.</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Objectives</a:t>
            </a:r>
            <a:endParaRPr lang="en-US" sz="3400" dirty="0"/>
          </a:p>
        </p:txBody>
      </p:sp>
      <p:sp>
        <p:nvSpPr>
          <p:cNvPr id="3" name="Objective 1"/>
          <p:cNvSpPr/>
          <p:nvPr/>
        </p:nvSpPr>
        <p:spPr>
          <a:xfrm>
            <a:off x="548640" y="1280160"/>
            <a:ext cx="8046720" cy="685800"/>
          </a:xfrm>
          <a:prstGeom prst="roundRect">
            <a:avLst>
              <a:gd name="adj" fmla="val 16000"/>
            </a:avLst>
          </a:prstGeom>
          <a:solidFill>
            <a:schemeClr val="bg2"/>
          </a:solidFill>
          <a:ln w="9525">
            <a:solidFill>
              <a:srgbClr val="DCE6E4"/>
            </a:solidFill>
            <a:prstDash val="solid"/>
          </a:ln>
        </p:spPr>
      </p:sp>
      <p:sp>
        <p:nvSpPr>
          <p:cNvPr id="4" name="Objective icon 1 circle"/>
          <p:cNvSpPr/>
          <p:nvPr/>
        </p:nvSpPr>
        <p:spPr>
          <a:xfrm>
            <a:off x="731520" y="1371600"/>
            <a:ext cx="502920" cy="502920"/>
          </a:xfrm>
          <a:prstGeom prst="ellipse">
            <a:avLst/>
          </a:prstGeom>
          <a:solidFill>
            <a:schemeClr val="bg1"/>
          </a:solidFill>
          <a:ln/>
        </p:spPr>
      </p:sp>
      <p:pic>
        <p:nvPicPr>
          <p:cNvPr id="5" name="Objective icon 1" descr="Objective icon 1">    </p:cNvPr>
          <p:cNvPicPr>
            <a:picLocks noChangeAspect="1"/>
          </p:cNvPicPr>
          <p:nvPr/>
        </p:nvPicPr>
        <p:blipFill>
          <a:blip r:embed="rId1"/>
          <a:stretch>
            <a:fillRect/>
          </a:stretch>
        </p:blipFill>
        <p:spPr>
          <a:xfrm>
            <a:off x="857250" y="1497330"/>
            <a:ext cx="251460" cy="251460"/>
          </a:xfrm>
          <a:prstGeom prst="rect">
            <a:avLst/>
          </a:prstGeom>
        </p:spPr>
      </p:pic>
      <p:sp>
        <p:nvSpPr>
          <p:cNvPr id="6" name="Text 3"/>
          <p:cNvSpPr txBox="1"/>
          <p:nvPr/>
        </p:nvSpPr>
        <p:spPr>
          <a:xfrm>
            <a:off x="1508760" y="1280160"/>
            <a:ext cx="6858000" cy="685800"/>
          </a:xfrm>
          <a:prstGeom prst="rect">
            <a:avLst/>
          </a:prstGeom>
          <a:noFill/>
          <a:ln/>
        </p:spPr>
        <p:txBody>
          <a:bodyPr wrap="square" lIns="0" tIns="0" rIns="0" bIns="0" rtlCol="0" anchor="ctr"/>
          <a:lstStyle/>
          <a:p>
            <a:pPr indent="0" marL="0">
              <a:buNone/>
            </a:pPr>
            <a:r>
              <a:rPr lang="en-US" sz="1800" dirty="0">
                <a:solidFill>
                  <a:schemeClr val="tx1"/>
                </a:solidFill>
              </a:rPr>
              <a:t>Let students find vacant rooms by date, time, seats, and type</a:t>
            </a:r>
            <a:endParaRPr lang="en-US" sz="1800" dirty="0"/>
          </a:p>
        </p:txBody>
      </p:sp>
      <p:sp>
        <p:nvSpPr>
          <p:cNvPr id="7" name="Objective 2"/>
          <p:cNvSpPr/>
          <p:nvPr/>
        </p:nvSpPr>
        <p:spPr>
          <a:xfrm>
            <a:off x="548640" y="2103120"/>
            <a:ext cx="8046720" cy="685800"/>
          </a:xfrm>
          <a:prstGeom prst="roundRect">
            <a:avLst>
              <a:gd name="adj" fmla="val 16000"/>
            </a:avLst>
          </a:prstGeom>
          <a:solidFill>
            <a:schemeClr val="bg2"/>
          </a:solidFill>
          <a:ln w="9525">
            <a:solidFill>
              <a:srgbClr val="DCE6E4"/>
            </a:solidFill>
            <a:prstDash val="solid"/>
          </a:ln>
        </p:spPr>
      </p:sp>
      <p:sp>
        <p:nvSpPr>
          <p:cNvPr id="8" name="Objective icon 2 circle"/>
          <p:cNvSpPr/>
          <p:nvPr/>
        </p:nvSpPr>
        <p:spPr>
          <a:xfrm>
            <a:off x="731520" y="2194560"/>
            <a:ext cx="502920" cy="502920"/>
          </a:xfrm>
          <a:prstGeom prst="ellipse">
            <a:avLst/>
          </a:prstGeom>
          <a:solidFill>
            <a:schemeClr val="bg1"/>
          </a:solidFill>
          <a:ln/>
        </p:spPr>
      </p:sp>
      <p:pic>
        <p:nvPicPr>
          <p:cNvPr id="9" name="Objective icon 2" descr="Objective icon 2">    </p:cNvPr>
          <p:cNvPicPr>
            <a:picLocks noChangeAspect="1"/>
          </p:cNvPicPr>
          <p:nvPr/>
        </p:nvPicPr>
        <p:blipFill>
          <a:blip r:embed="rId2"/>
          <a:stretch>
            <a:fillRect/>
          </a:stretch>
        </p:blipFill>
        <p:spPr>
          <a:xfrm>
            <a:off x="857250" y="2320290"/>
            <a:ext cx="251460" cy="251460"/>
          </a:xfrm>
          <a:prstGeom prst="rect">
            <a:avLst/>
          </a:prstGeom>
        </p:spPr>
      </p:pic>
      <p:sp>
        <p:nvSpPr>
          <p:cNvPr id="10" name="Text 6"/>
          <p:cNvSpPr txBox="1"/>
          <p:nvPr/>
        </p:nvSpPr>
        <p:spPr>
          <a:xfrm>
            <a:off x="1508760" y="2103120"/>
            <a:ext cx="6858000" cy="685800"/>
          </a:xfrm>
          <a:prstGeom prst="rect">
            <a:avLst/>
          </a:prstGeom>
          <a:noFill/>
          <a:ln/>
        </p:spPr>
        <p:txBody>
          <a:bodyPr wrap="square" lIns="0" tIns="0" rIns="0" bIns="0" rtlCol="0" anchor="ctr"/>
          <a:lstStyle/>
          <a:p>
            <a:pPr indent="0" marL="0">
              <a:buNone/>
            </a:pPr>
            <a:r>
              <a:rPr lang="en-US" sz="1800" dirty="0">
                <a:solidFill>
                  <a:schemeClr val="tx1"/>
                </a:solidFill>
              </a:rPr>
              <a:t>Give faculty one place to approve or reject requests</a:t>
            </a:r>
            <a:endParaRPr lang="en-US" sz="1800" dirty="0"/>
          </a:p>
        </p:txBody>
      </p:sp>
      <p:sp>
        <p:nvSpPr>
          <p:cNvPr id="11" name="Objective 3"/>
          <p:cNvSpPr/>
          <p:nvPr/>
        </p:nvSpPr>
        <p:spPr>
          <a:xfrm>
            <a:off x="548640" y="2926080"/>
            <a:ext cx="8046720" cy="685800"/>
          </a:xfrm>
          <a:prstGeom prst="roundRect">
            <a:avLst>
              <a:gd name="adj" fmla="val 16000"/>
            </a:avLst>
          </a:prstGeom>
          <a:solidFill>
            <a:schemeClr val="bg2"/>
          </a:solidFill>
          <a:ln w="9525">
            <a:solidFill>
              <a:srgbClr val="DCE6E4"/>
            </a:solidFill>
            <a:prstDash val="solid"/>
          </a:ln>
        </p:spPr>
      </p:sp>
      <p:sp>
        <p:nvSpPr>
          <p:cNvPr id="12" name="Objective icon 3 circle"/>
          <p:cNvSpPr/>
          <p:nvPr/>
        </p:nvSpPr>
        <p:spPr>
          <a:xfrm>
            <a:off x="731520" y="3017520"/>
            <a:ext cx="502920" cy="502920"/>
          </a:xfrm>
          <a:prstGeom prst="ellipse">
            <a:avLst/>
          </a:prstGeom>
          <a:solidFill>
            <a:schemeClr val="bg1"/>
          </a:solidFill>
          <a:ln/>
        </p:spPr>
      </p:sp>
      <p:pic>
        <p:nvPicPr>
          <p:cNvPr id="13" name="Objective icon 3" descr="Objective icon 3">    </p:cNvPr>
          <p:cNvPicPr>
            <a:picLocks noChangeAspect="1"/>
          </p:cNvPicPr>
          <p:nvPr/>
        </p:nvPicPr>
        <p:blipFill>
          <a:blip r:embed="rId3"/>
          <a:stretch>
            <a:fillRect/>
          </a:stretch>
        </p:blipFill>
        <p:spPr>
          <a:xfrm>
            <a:off x="857250" y="3143250"/>
            <a:ext cx="251460" cy="251460"/>
          </a:xfrm>
          <a:prstGeom prst="rect">
            <a:avLst/>
          </a:prstGeom>
        </p:spPr>
      </p:pic>
      <p:sp>
        <p:nvSpPr>
          <p:cNvPr id="14" name="Text 9"/>
          <p:cNvSpPr txBox="1"/>
          <p:nvPr/>
        </p:nvSpPr>
        <p:spPr>
          <a:xfrm>
            <a:off x="1508760" y="2926080"/>
            <a:ext cx="6858000" cy="685800"/>
          </a:xfrm>
          <a:prstGeom prst="rect">
            <a:avLst/>
          </a:prstGeom>
          <a:noFill/>
          <a:ln/>
        </p:spPr>
        <p:txBody>
          <a:bodyPr wrap="square" lIns="0" tIns="0" rIns="0" bIns="0" rtlCol="0" anchor="ctr"/>
          <a:lstStyle/>
          <a:p>
            <a:pPr indent="0" marL="0">
              <a:buNone/>
            </a:pPr>
            <a:r>
              <a:rPr lang="en-US" sz="1800" dirty="0">
                <a:solidFill>
                  <a:schemeClr val="tx1"/>
                </a:solidFill>
              </a:rPr>
              <a:t>Make double bookings impossible at the database level</a:t>
            </a:r>
            <a:endParaRPr lang="en-US" sz="1800" dirty="0"/>
          </a:p>
        </p:txBody>
      </p:sp>
      <p:sp>
        <p:nvSpPr>
          <p:cNvPr id="15" name="Objective 4"/>
          <p:cNvSpPr/>
          <p:nvPr/>
        </p:nvSpPr>
        <p:spPr>
          <a:xfrm>
            <a:off x="548640" y="3749040"/>
            <a:ext cx="8046720" cy="685800"/>
          </a:xfrm>
          <a:prstGeom prst="roundRect">
            <a:avLst>
              <a:gd name="adj" fmla="val 16000"/>
            </a:avLst>
          </a:prstGeom>
          <a:solidFill>
            <a:schemeClr val="bg2"/>
          </a:solidFill>
          <a:ln w="9525">
            <a:solidFill>
              <a:srgbClr val="DCE6E4"/>
            </a:solidFill>
            <a:prstDash val="solid"/>
          </a:ln>
        </p:spPr>
      </p:sp>
      <p:sp>
        <p:nvSpPr>
          <p:cNvPr id="16" name="Objective icon 4 circle"/>
          <p:cNvSpPr/>
          <p:nvPr/>
        </p:nvSpPr>
        <p:spPr>
          <a:xfrm>
            <a:off x="731520" y="3840480"/>
            <a:ext cx="502920" cy="502920"/>
          </a:xfrm>
          <a:prstGeom prst="ellipse">
            <a:avLst/>
          </a:prstGeom>
          <a:solidFill>
            <a:schemeClr val="bg1"/>
          </a:solidFill>
          <a:ln/>
        </p:spPr>
      </p:sp>
      <p:pic>
        <p:nvPicPr>
          <p:cNvPr id="17" name="Objective icon 4" descr="Objective icon 4">    </p:cNvPr>
          <p:cNvPicPr>
            <a:picLocks noChangeAspect="1"/>
          </p:cNvPicPr>
          <p:nvPr/>
        </p:nvPicPr>
        <p:blipFill>
          <a:blip r:embed="rId4"/>
          <a:stretch>
            <a:fillRect/>
          </a:stretch>
        </p:blipFill>
        <p:spPr>
          <a:xfrm>
            <a:off x="857250" y="3966210"/>
            <a:ext cx="251460" cy="251460"/>
          </a:xfrm>
          <a:prstGeom prst="rect">
            <a:avLst/>
          </a:prstGeom>
        </p:spPr>
      </p:pic>
      <p:sp>
        <p:nvSpPr>
          <p:cNvPr id="18" name="Text 12"/>
          <p:cNvSpPr txBox="1"/>
          <p:nvPr/>
        </p:nvSpPr>
        <p:spPr>
          <a:xfrm>
            <a:off x="1508760" y="3749040"/>
            <a:ext cx="6858000" cy="685800"/>
          </a:xfrm>
          <a:prstGeom prst="rect">
            <a:avLst/>
          </a:prstGeom>
          <a:noFill/>
          <a:ln/>
        </p:spPr>
        <p:txBody>
          <a:bodyPr wrap="square" lIns="0" tIns="0" rIns="0" bIns="0" rtlCol="0" anchor="ctr"/>
          <a:lstStyle/>
          <a:p>
            <a:pPr indent="0" marL="0">
              <a:buNone/>
            </a:pPr>
            <a:r>
              <a:rPr lang="en-US" sz="1800" dirty="0">
                <a:solidFill>
                  <a:schemeClr val="tx1"/>
                </a:solidFill>
              </a:rPr>
              <a:t>Keep a clear record of every request and decision</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How Roomwise works</a:t>
            </a:r>
            <a:endParaRPr lang="en-US" sz="3400" dirty="0"/>
          </a:p>
        </p:txBody>
      </p:sp>
      <p:sp>
        <p:nvSpPr>
          <p:cNvPr id="3" name="Step card 1"/>
          <p:cNvSpPr/>
          <p:nvPr/>
        </p:nvSpPr>
        <p:spPr>
          <a:xfrm>
            <a:off x="548640" y="1325880"/>
            <a:ext cx="1874520" cy="2377440"/>
          </a:xfrm>
          <a:prstGeom prst="roundRect">
            <a:avLst>
              <a:gd name="adj" fmla="val 5854"/>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4" name="Step number circle 1"/>
          <p:cNvSpPr/>
          <p:nvPr/>
        </p:nvSpPr>
        <p:spPr>
          <a:xfrm>
            <a:off x="777240" y="1600200"/>
            <a:ext cx="640080" cy="640080"/>
          </a:xfrm>
          <a:prstGeom prst="ellipse">
            <a:avLst/>
          </a:prstGeom>
          <a:solidFill>
            <a:schemeClr val="accent1"/>
          </a:solidFill>
          <a:ln/>
        </p:spPr>
      </p:sp>
      <p:sp>
        <p:nvSpPr>
          <p:cNvPr id="5" name="Text 3"/>
          <p:cNvSpPr txBox="1"/>
          <p:nvPr/>
        </p:nvSpPr>
        <p:spPr>
          <a:xfrm>
            <a:off x="777240"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4"/>
          <p:cNvSpPr txBox="1"/>
          <p:nvPr/>
        </p:nvSpPr>
        <p:spPr>
          <a:xfrm>
            <a:off x="777240" y="2468880"/>
            <a:ext cx="1463040" cy="320040"/>
          </a:xfrm>
          <a:prstGeom prst="rect">
            <a:avLst/>
          </a:prstGeom>
          <a:noFill/>
          <a:ln/>
        </p:spPr>
        <p:txBody>
          <a:bodyPr wrap="square" lIns="0" tIns="0" rIns="0" bIns="0" rtlCol="0" anchor="t"/>
          <a:lstStyle/>
          <a:p>
            <a:pPr indent="0" marL="0">
              <a:buNone/>
            </a:pPr>
            <a:r>
              <a:rPr lang="en-US" sz="1800" b="1" dirty="0">
                <a:solidFill>
                  <a:schemeClr val="tx1"/>
                </a:solidFill>
              </a:rPr>
              <a:t>Log in</a:t>
            </a:r>
            <a:endParaRPr lang="en-US" sz="1800" dirty="0"/>
          </a:p>
        </p:txBody>
      </p:sp>
      <p:sp>
        <p:nvSpPr>
          <p:cNvPr id="7" name="Text 5"/>
          <p:cNvSpPr txBox="1"/>
          <p:nvPr/>
        </p:nvSpPr>
        <p:spPr>
          <a:xfrm>
            <a:off x="777240" y="2834640"/>
            <a:ext cx="1463040" cy="1005840"/>
          </a:xfrm>
          <a:prstGeom prst="rect">
            <a:avLst/>
          </a:prstGeom>
          <a:noFill/>
          <a:ln/>
        </p:spPr>
        <p:txBody>
          <a:bodyPr wrap="square" lIns="0" tIns="0" rIns="0" bIns="0" rtlCol="0" anchor="t"/>
          <a:lstStyle/>
          <a:p>
            <a:pPr indent="0" marL="0">
              <a:buNone/>
            </a:pPr>
            <a:r>
              <a:rPr lang="en-US" sz="1400" dirty="0">
                <a:solidFill>
                  <a:schemeClr val="accent4"/>
                </a:solidFill>
              </a:rPr>
              <a:t>Students and faculty sign in with their own accounts.</a:t>
            </a:r>
            <a:endParaRPr lang="en-US" sz="1400" dirty="0"/>
          </a:p>
        </p:txBody>
      </p:sp>
      <p:sp>
        <p:nvSpPr>
          <p:cNvPr id="8" name="Step card 2"/>
          <p:cNvSpPr/>
          <p:nvPr/>
        </p:nvSpPr>
        <p:spPr>
          <a:xfrm>
            <a:off x="2624328" y="1325880"/>
            <a:ext cx="1874520" cy="2377440"/>
          </a:xfrm>
          <a:prstGeom prst="roundRect">
            <a:avLst>
              <a:gd name="adj" fmla="val 5854"/>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9" name="Step number circle 2"/>
          <p:cNvSpPr/>
          <p:nvPr/>
        </p:nvSpPr>
        <p:spPr>
          <a:xfrm>
            <a:off x="2852928" y="1600200"/>
            <a:ext cx="640080" cy="640080"/>
          </a:xfrm>
          <a:prstGeom prst="ellipse">
            <a:avLst/>
          </a:prstGeom>
          <a:solidFill>
            <a:schemeClr val="accent1"/>
          </a:solidFill>
          <a:ln/>
        </p:spPr>
      </p:sp>
      <p:sp>
        <p:nvSpPr>
          <p:cNvPr id="10" name="Text 8"/>
          <p:cNvSpPr txBox="1"/>
          <p:nvPr/>
        </p:nvSpPr>
        <p:spPr>
          <a:xfrm>
            <a:off x="2852928"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1" name="Text 9"/>
          <p:cNvSpPr txBox="1"/>
          <p:nvPr/>
        </p:nvSpPr>
        <p:spPr>
          <a:xfrm>
            <a:off x="2852928" y="2468880"/>
            <a:ext cx="1463040" cy="320040"/>
          </a:xfrm>
          <a:prstGeom prst="rect">
            <a:avLst/>
          </a:prstGeom>
          <a:noFill/>
          <a:ln/>
        </p:spPr>
        <p:txBody>
          <a:bodyPr wrap="square" lIns="0" tIns="0" rIns="0" bIns="0" rtlCol="0" anchor="t"/>
          <a:lstStyle/>
          <a:p>
            <a:pPr indent="0" marL="0">
              <a:buNone/>
            </a:pPr>
            <a:r>
              <a:rPr lang="en-US" sz="1800" b="1" dirty="0">
                <a:solidFill>
                  <a:schemeClr val="tx1"/>
                </a:solidFill>
              </a:rPr>
              <a:t>Search</a:t>
            </a:r>
            <a:endParaRPr lang="en-US" sz="1800" dirty="0"/>
          </a:p>
        </p:txBody>
      </p:sp>
      <p:sp>
        <p:nvSpPr>
          <p:cNvPr id="12" name="Text 10"/>
          <p:cNvSpPr txBox="1"/>
          <p:nvPr/>
        </p:nvSpPr>
        <p:spPr>
          <a:xfrm>
            <a:off x="2852928" y="2834640"/>
            <a:ext cx="1463040" cy="1005840"/>
          </a:xfrm>
          <a:prstGeom prst="rect">
            <a:avLst/>
          </a:prstGeom>
          <a:noFill/>
          <a:ln/>
        </p:spPr>
        <p:txBody>
          <a:bodyPr wrap="square" lIns="0" tIns="0" rIns="0" bIns="0" rtlCol="0" anchor="t"/>
          <a:lstStyle/>
          <a:p>
            <a:pPr indent="0" marL="0">
              <a:buNone/>
            </a:pPr>
            <a:r>
              <a:rPr lang="en-US" sz="1400" dirty="0">
                <a:solidFill>
                  <a:schemeClr val="accent4"/>
                </a:solidFill>
              </a:rPr>
              <a:t>Pick a date and time to see only vacant rooms.</a:t>
            </a:r>
            <a:endParaRPr lang="en-US" sz="1400" dirty="0"/>
          </a:p>
        </p:txBody>
      </p:sp>
      <p:sp>
        <p:nvSpPr>
          <p:cNvPr id="13" name="Step card 3"/>
          <p:cNvSpPr/>
          <p:nvPr/>
        </p:nvSpPr>
        <p:spPr>
          <a:xfrm>
            <a:off x="4700016" y="1325880"/>
            <a:ext cx="1874520" cy="2377440"/>
          </a:xfrm>
          <a:prstGeom prst="roundRect">
            <a:avLst>
              <a:gd name="adj" fmla="val 5854"/>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14" name="Step number circle 3"/>
          <p:cNvSpPr/>
          <p:nvPr/>
        </p:nvSpPr>
        <p:spPr>
          <a:xfrm>
            <a:off x="4928616" y="1600200"/>
            <a:ext cx="640080" cy="640080"/>
          </a:xfrm>
          <a:prstGeom prst="ellipse">
            <a:avLst/>
          </a:prstGeom>
          <a:solidFill>
            <a:schemeClr val="accent1"/>
          </a:solidFill>
          <a:ln/>
        </p:spPr>
      </p:sp>
      <p:sp>
        <p:nvSpPr>
          <p:cNvPr id="15" name="Text 13"/>
          <p:cNvSpPr txBox="1"/>
          <p:nvPr/>
        </p:nvSpPr>
        <p:spPr>
          <a:xfrm>
            <a:off x="4928616"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6" name="Text 14"/>
          <p:cNvSpPr txBox="1"/>
          <p:nvPr/>
        </p:nvSpPr>
        <p:spPr>
          <a:xfrm>
            <a:off x="4928616" y="2468880"/>
            <a:ext cx="1463040" cy="320040"/>
          </a:xfrm>
          <a:prstGeom prst="rect">
            <a:avLst/>
          </a:prstGeom>
          <a:noFill/>
          <a:ln/>
        </p:spPr>
        <p:txBody>
          <a:bodyPr wrap="square" lIns="0" tIns="0" rIns="0" bIns="0" rtlCol="0" anchor="t"/>
          <a:lstStyle/>
          <a:p>
            <a:pPr indent="0" marL="0">
              <a:buNone/>
            </a:pPr>
            <a:r>
              <a:rPr lang="en-US" sz="1800" b="1" dirty="0">
                <a:solidFill>
                  <a:schemeClr val="tx1"/>
                </a:solidFill>
              </a:rPr>
              <a:t>Request</a:t>
            </a:r>
            <a:endParaRPr lang="en-US" sz="1800" dirty="0"/>
          </a:p>
        </p:txBody>
      </p:sp>
      <p:sp>
        <p:nvSpPr>
          <p:cNvPr id="17" name="Text 15"/>
          <p:cNvSpPr txBox="1"/>
          <p:nvPr/>
        </p:nvSpPr>
        <p:spPr>
          <a:xfrm>
            <a:off x="4928616" y="2834640"/>
            <a:ext cx="1463040" cy="1005840"/>
          </a:xfrm>
          <a:prstGeom prst="rect">
            <a:avLst/>
          </a:prstGeom>
          <a:noFill/>
          <a:ln/>
        </p:spPr>
        <p:txBody>
          <a:bodyPr wrap="square" lIns="0" tIns="0" rIns="0" bIns="0" rtlCol="0" anchor="t"/>
          <a:lstStyle/>
          <a:p>
            <a:pPr indent="0" marL="0">
              <a:buNone/>
            </a:pPr>
            <a:r>
              <a:rPr lang="en-US" sz="1400" dirty="0">
                <a:solidFill>
                  <a:schemeClr val="accent4"/>
                </a:solidFill>
              </a:rPr>
              <a:t>Choose a room, add a purpose, and send it.</a:t>
            </a:r>
            <a:endParaRPr lang="en-US" sz="1400" dirty="0"/>
          </a:p>
        </p:txBody>
      </p:sp>
      <p:sp>
        <p:nvSpPr>
          <p:cNvPr id="18" name="Step card 4"/>
          <p:cNvSpPr/>
          <p:nvPr/>
        </p:nvSpPr>
        <p:spPr>
          <a:xfrm>
            <a:off x="6775704" y="1325880"/>
            <a:ext cx="1874520" cy="2377440"/>
          </a:xfrm>
          <a:prstGeom prst="roundRect">
            <a:avLst>
              <a:gd name="adj" fmla="val 5854"/>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19" name="Step number circle 4"/>
          <p:cNvSpPr/>
          <p:nvPr/>
        </p:nvSpPr>
        <p:spPr>
          <a:xfrm>
            <a:off x="7004304" y="1600200"/>
            <a:ext cx="640080" cy="640080"/>
          </a:xfrm>
          <a:prstGeom prst="ellipse">
            <a:avLst/>
          </a:prstGeom>
          <a:solidFill>
            <a:schemeClr val="accent1"/>
          </a:solidFill>
          <a:ln/>
        </p:spPr>
      </p:sp>
      <p:sp>
        <p:nvSpPr>
          <p:cNvPr id="20" name="Text 18"/>
          <p:cNvSpPr txBox="1"/>
          <p:nvPr/>
        </p:nvSpPr>
        <p:spPr>
          <a:xfrm>
            <a:off x="7004304" y="1600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1" name="Text 19"/>
          <p:cNvSpPr txBox="1"/>
          <p:nvPr/>
        </p:nvSpPr>
        <p:spPr>
          <a:xfrm>
            <a:off x="7004304" y="2468880"/>
            <a:ext cx="1463040" cy="320040"/>
          </a:xfrm>
          <a:prstGeom prst="rect">
            <a:avLst/>
          </a:prstGeom>
          <a:noFill/>
          <a:ln/>
        </p:spPr>
        <p:txBody>
          <a:bodyPr wrap="square" lIns="0" tIns="0" rIns="0" bIns="0" rtlCol="0" anchor="t"/>
          <a:lstStyle/>
          <a:p>
            <a:pPr indent="0" marL="0">
              <a:buNone/>
            </a:pPr>
            <a:r>
              <a:rPr lang="en-US" sz="1800" b="1" dirty="0">
                <a:solidFill>
                  <a:schemeClr val="tx1"/>
                </a:solidFill>
              </a:rPr>
              <a:t>Decide</a:t>
            </a:r>
            <a:endParaRPr lang="en-US" sz="1800" dirty="0"/>
          </a:p>
        </p:txBody>
      </p:sp>
      <p:sp>
        <p:nvSpPr>
          <p:cNvPr id="22" name="Text 20"/>
          <p:cNvSpPr txBox="1"/>
          <p:nvPr/>
        </p:nvSpPr>
        <p:spPr>
          <a:xfrm>
            <a:off x="7004304" y="2834640"/>
            <a:ext cx="1463040" cy="1005840"/>
          </a:xfrm>
          <a:prstGeom prst="rect">
            <a:avLst/>
          </a:prstGeom>
          <a:noFill/>
          <a:ln/>
        </p:spPr>
        <p:txBody>
          <a:bodyPr wrap="square" lIns="0" tIns="0" rIns="0" bIns="0" rtlCol="0" anchor="t"/>
          <a:lstStyle/>
          <a:p>
            <a:pPr indent="0" marL="0">
              <a:buNone/>
            </a:pPr>
            <a:r>
              <a:rPr lang="en-US" sz="1400" dirty="0">
                <a:solidFill>
                  <a:schemeClr val="accent4"/>
                </a:solidFill>
              </a:rPr>
              <a:t>Faculty approve or reject, with an optional note.</a:t>
            </a:r>
            <a:endParaRPr lang="en-US" sz="1400" dirty="0"/>
          </a:p>
        </p:txBody>
      </p:sp>
      <p:sp>
        <p:nvSpPr>
          <p:cNvPr id="23" name="Text 21"/>
          <p:cNvSpPr txBox="1"/>
          <p:nvPr/>
        </p:nvSpPr>
        <p:spPr>
          <a:xfrm>
            <a:off x="548640" y="3931920"/>
            <a:ext cx="8046720" cy="365760"/>
          </a:xfrm>
          <a:prstGeom prst="rect">
            <a:avLst/>
          </a:prstGeom>
          <a:noFill/>
          <a:ln/>
        </p:spPr>
        <p:txBody>
          <a:bodyPr wrap="square" lIns="0" tIns="0" rIns="0" bIns="0" rtlCol="0" anchor="t"/>
          <a:lstStyle/>
          <a:p>
            <a:pPr indent="0" marL="0">
              <a:buNone/>
            </a:pPr>
            <a:r>
              <a:rPr lang="en-US" sz="1600" i="1" dirty="0">
                <a:solidFill>
                  <a:schemeClr val="accent5"/>
                </a:solidFill>
              </a:rPr>
              <a:t>A room is confirmed only after faculty approval, and approved slots can never overlap.</a:t>
            </a:r>
            <a:endParaRPr lang="en-US" sz="1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Key features</a:t>
            </a:r>
            <a:endParaRPr lang="en-US" sz="3400" dirty="0"/>
          </a:p>
        </p:txBody>
      </p:sp>
      <p:sp>
        <p:nvSpPr>
          <p:cNvPr id="3" name="Feature card 1"/>
          <p:cNvSpPr/>
          <p:nvPr/>
        </p:nvSpPr>
        <p:spPr>
          <a:xfrm>
            <a:off x="548640" y="1234440"/>
            <a:ext cx="2560320" cy="1600200"/>
          </a:xfrm>
          <a:prstGeom prst="roundRect">
            <a:avLst>
              <a:gd name="adj" fmla="val 6857"/>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4" name="Role-based login icon circle"/>
          <p:cNvSpPr/>
          <p:nvPr/>
        </p:nvSpPr>
        <p:spPr>
          <a:xfrm>
            <a:off x="731520" y="1417320"/>
            <a:ext cx="502920" cy="502920"/>
          </a:xfrm>
          <a:prstGeom prst="ellipse">
            <a:avLst/>
          </a:prstGeom>
          <a:solidFill>
            <a:schemeClr val="accent6"/>
          </a:solidFill>
          <a:ln/>
        </p:spPr>
      </p:sp>
      <p:pic>
        <p:nvPicPr>
          <p:cNvPr id="5" name="Role-based login icon" descr="Role-based login icon">    </p:cNvPr>
          <p:cNvPicPr>
            <a:picLocks noChangeAspect="1"/>
          </p:cNvPicPr>
          <p:nvPr/>
        </p:nvPicPr>
        <p:blipFill>
          <a:blip r:embed="rId1"/>
          <a:stretch>
            <a:fillRect/>
          </a:stretch>
        </p:blipFill>
        <p:spPr>
          <a:xfrm>
            <a:off x="857250" y="1543050"/>
            <a:ext cx="251460" cy="251460"/>
          </a:xfrm>
          <a:prstGeom prst="rect">
            <a:avLst/>
          </a:prstGeom>
        </p:spPr>
      </p:pic>
      <p:sp>
        <p:nvSpPr>
          <p:cNvPr id="6" name="Text 3"/>
          <p:cNvSpPr txBox="1"/>
          <p:nvPr/>
        </p:nvSpPr>
        <p:spPr>
          <a:xfrm>
            <a:off x="731520" y="2011680"/>
            <a:ext cx="2194560" cy="274320"/>
          </a:xfrm>
          <a:prstGeom prst="rect">
            <a:avLst/>
          </a:prstGeom>
          <a:noFill/>
          <a:ln/>
        </p:spPr>
        <p:txBody>
          <a:bodyPr wrap="square" lIns="0" tIns="0" rIns="0" bIns="0" rtlCol="0" anchor="t"/>
          <a:lstStyle/>
          <a:p>
            <a:pPr indent="0" marL="0">
              <a:buNone/>
            </a:pPr>
            <a:r>
              <a:rPr lang="en-US" sz="1600" b="1" dirty="0">
                <a:solidFill>
                  <a:schemeClr val="tx1"/>
                </a:solidFill>
              </a:rPr>
              <a:t>Role-based login</a:t>
            </a:r>
            <a:endParaRPr lang="en-US" sz="1600" dirty="0"/>
          </a:p>
        </p:txBody>
      </p:sp>
      <p:sp>
        <p:nvSpPr>
          <p:cNvPr id="7" name="Text 4"/>
          <p:cNvSpPr txBox="1"/>
          <p:nvPr/>
        </p:nvSpPr>
        <p:spPr>
          <a:xfrm>
            <a:off x="731520" y="2304288"/>
            <a:ext cx="2194560" cy="457200"/>
          </a:xfrm>
          <a:prstGeom prst="rect">
            <a:avLst/>
          </a:prstGeom>
          <a:noFill/>
          <a:ln/>
        </p:spPr>
        <p:txBody>
          <a:bodyPr wrap="square" lIns="0" tIns="0" rIns="0" bIns="0" rtlCol="0" anchor="t"/>
          <a:lstStyle/>
          <a:p>
            <a:pPr indent="0" marL="0">
              <a:buNone/>
            </a:pPr>
            <a:r>
              <a:rPr lang="en-US" sz="1400" dirty="0">
                <a:solidFill>
                  <a:schemeClr val="accent4"/>
                </a:solidFill>
              </a:rPr>
              <a:t>Separate student and faculty accounts</a:t>
            </a:r>
            <a:endParaRPr lang="en-US" sz="1400" dirty="0"/>
          </a:p>
        </p:txBody>
      </p:sp>
      <p:sp>
        <p:nvSpPr>
          <p:cNvPr id="8" name="Feature card 2"/>
          <p:cNvSpPr/>
          <p:nvPr/>
        </p:nvSpPr>
        <p:spPr>
          <a:xfrm>
            <a:off x="3291840" y="1234440"/>
            <a:ext cx="2560320" cy="1600200"/>
          </a:xfrm>
          <a:prstGeom prst="roundRect">
            <a:avLst>
              <a:gd name="adj" fmla="val 6857"/>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9" name="Vacant room search icon circle"/>
          <p:cNvSpPr/>
          <p:nvPr/>
        </p:nvSpPr>
        <p:spPr>
          <a:xfrm>
            <a:off x="3474720" y="1417320"/>
            <a:ext cx="502920" cy="502920"/>
          </a:xfrm>
          <a:prstGeom prst="ellipse">
            <a:avLst/>
          </a:prstGeom>
          <a:solidFill>
            <a:schemeClr val="accent6"/>
          </a:solidFill>
          <a:ln/>
        </p:spPr>
      </p:sp>
      <p:pic>
        <p:nvPicPr>
          <p:cNvPr id="10" name="Vacant room search icon" descr="Vacant room search icon">    </p:cNvPr>
          <p:cNvPicPr>
            <a:picLocks noChangeAspect="1"/>
          </p:cNvPicPr>
          <p:nvPr/>
        </p:nvPicPr>
        <p:blipFill>
          <a:blip r:embed="rId2"/>
          <a:stretch>
            <a:fillRect/>
          </a:stretch>
        </p:blipFill>
        <p:spPr>
          <a:xfrm>
            <a:off x="3600450" y="1543050"/>
            <a:ext cx="251460" cy="251460"/>
          </a:xfrm>
          <a:prstGeom prst="rect">
            <a:avLst/>
          </a:prstGeom>
        </p:spPr>
      </p:pic>
      <p:sp>
        <p:nvSpPr>
          <p:cNvPr id="11" name="Text 7"/>
          <p:cNvSpPr txBox="1"/>
          <p:nvPr/>
        </p:nvSpPr>
        <p:spPr>
          <a:xfrm>
            <a:off x="3474720" y="2011680"/>
            <a:ext cx="2194560" cy="274320"/>
          </a:xfrm>
          <a:prstGeom prst="rect">
            <a:avLst/>
          </a:prstGeom>
          <a:noFill/>
          <a:ln/>
        </p:spPr>
        <p:txBody>
          <a:bodyPr wrap="square" lIns="0" tIns="0" rIns="0" bIns="0" rtlCol="0" anchor="t"/>
          <a:lstStyle/>
          <a:p>
            <a:pPr indent="0" marL="0">
              <a:buNone/>
            </a:pPr>
            <a:r>
              <a:rPr lang="en-US" sz="1600" b="1" dirty="0">
                <a:solidFill>
                  <a:schemeClr val="tx1"/>
                </a:solidFill>
              </a:rPr>
              <a:t>Vacant room search</a:t>
            </a:r>
            <a:endParaRPr lang="en-US" sz="1600" dirty="0"/>
          </a:p>
        </p:txBody>
      </p:sp>
      <p:sp>
        <p:nvSpPr>
          <p:cNvPr id="12" name="Text 8"/>
          <p:cNvSpPr txBox="1"/>
          <p:nvPr/>
        </p:nvSpPr>
        <p:spPr>
          <a:xfrm>
            <a:off x="3474720" y="2304288"/>
            <a:ext cx="2194560" cy="457200"/>
          </a:xfrm>
          <a:prstGeom prst="rect">
            <a:avLst/>
          </a:prstGeom>
          <a:noFill/>
          <a:ln/>
        </p:spPr>
        <p:txBody>
          <a:bodyPr wrap="square" lIns="0" tIns="0" rIns="0" bIns="0" rtlCol="0" anchor="t"/>
          <a:lstStyle/>
          <a:p>
            <a:pPr indent="0" marL="0">
              <a:buNone/>
            </a:pPr>
            <a:r>
              <a:rPr lang="en-US" sz="1400" dirty="0">
                <a:solidFill>
                  <a:schemeClr val="accent4"/>
                </a:solidFill>
              </a:rPr>
              <a:t>Filter by date, time, seats, and type</a:t>
            </a:r>
            <a:endParaRPr lang="en-US" sz="1400" dirty="0"/>
          </a:p>
        </p:txBody>
      </p:sp>
      <p:sp>
        <p:nvSpPr>
          <p:cNvPr id="13" name="Feature card 3"/>
          <p:cNvSpPr/>
          <p:nvPr/>
        </p:nvSpPr>
        <p:spPr>
          <a:xfrm>
            <a:off x="6035040" y="1234440"/>
            <a:ext cx="2560320" cy="1600200"/>
          </a:xfrm>
          <a:prstGeom prst="roundRect">
            <a:avLst>
              <a:gd name="adj" fmla="val 6857"/>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14" name="Request and approval icon circle"/>
          <p:cNvSpPr/>
          <p:nvPr/>
        </p:nvSpPr>
        <p:spPr>
          <a:xfrm>
            <a:off x="6217920" y="1417320"/>
            <a:ext cx="502920" cy="502920"/>
          </a:xfrm>
          <a:prstGeom prst="ellipse">
            <a:avLst/>
          </a:prstGeom>
          <a:solidFill>
            <a:schemeClr val="accent6"/>
          </a:solidFill>
          <a:ln/>
        </p:spPr>
      </p:sp>
      <p:pic>
        <p:nvPicPr>
          <p:cNvPr id="15" name="Request and approval icon" descr="Request and approval icon">    </p:cNvPr>
          <p:cNvPicPr>
            <a:picLocks noChangeAspect="1"/>
          </p:cNvPicPr>
          <p:nvPr/>
        </p:nvPicPr>
        <p:blipFill>
          <a:blip r:embed="rId3"/>
          <a:stretch>
            <a:fillRect/>
          </a:stretch>
        </p:blipFill>
        <p:spPr>
          <a:xfrm>
            <a:off x="6343650" y="1543050"/>
            <a:ext cx="251460" cy="251460"/>
          </a:xfrm>
          <a:prstGeom prst="rect">
            <a:avLst/>
          </a:prstGeom>
        </p:spPr>
      </p:pic>
      <p:sp>
        <p:nvSpPr>
          <p:cNvPr id="16" name="Text 11"/>
          <p:cNvSpPr txBox="1"/>
          <p:nvPr/>
        </p:nvSpPr>
        <p:spPr>
          <a:xfrm>
            <a:off x="6217920" y="2011680"/>
            <a:ext cx="2194560" cy="274320"/>
          </a:xfrm>
          <a:prstGeom prst="rect">
            <a:avLst/>
          </a:prstGeom>
          <a:noFill/>
          <a:ln/>
        </p:spPr>
        <p:txBody>
          <a:bodyPr wrap="square" lIns="0" tIns="0" rIns="0" bIns="0" rtlCol="0" anchor="t"/>
          <a:lstStyle/>
          <a:p>
            <a:pPr indent="0" marL="0">
              <a:buNone/>
            </a:pPr>
            <a:r>
              <a:rPr lang="en-US" sz="1600" b="1" dirty="0">
                <a:solidFill>
                  <a:schemeClr val="tx1"/>
                </a:solidFill>
              </a:rPr>
              <a:t>Request and approval</a:t>
            </a:r>
            <a:endParaRPr lang="en-US" sz="1600" dirty="0"/>
          </a:p>
        </p:txBody>
      </p:sp>
      <p:sp>
        <p:nvSpPr>
          <p:cNvPr id="17" name="Text 12"/>
          <p:cNvSpPr txBox="1"/>
          <p:nvPr/>
        </p:nvSpPr>
        <p:spPr>
          <a:xfrm>
            <a:off x="6217920" y="2304288"/>
            <a:ext cx="2194560" cy="457200"/>
          </a:xfrm>
          <a:prstGeom prst="rect">
            <a:avLst/>
          </a:prstGeom>
          <a:noFill/>
          <a:ln/>
        </p:spPr>
        <p:txBody>
          <a:bodyPr wrap="square" lIns="0" tIns="0" rIns="0" bIns="0" rtlCol="0" anchor="t"/>
          <a:lstStyle/>
          <a:p>
            <a:pPr indent="0" marL="0">
              <a:buNone/>
            </a:pPr>
            <a:r>
              <a:rPr lang="en-US" sz="1400" dirty="0">
                <a:solidFill>
                  <a:schemeClr val="accent4"/>
                </a:solidFill>
              </a:rPr>
              <a:t>Faculty approve or reject with a note</a:t>
            </a:r>
            <a:endParaRPr lang="en-US" sz="1400" dirty="0"/>
          </a:p>
        </p:txBody>
      </p:sp>
      <p:sp>
        <p:nvSpPr>
          <p:cNvPr id="18" name="Feature card 4"/>
          <p:cNvSpPr/>
          <p:nvPr/>
        </p:nvSpPr>
        <p:spPr>
          <a:xfrm>
            <a:off x="548640" y="2971800"/>
            <a:ext cx="2560320" cy="1600200"/>
          </a:xfrm>
          <a:prstGeom prst="roundRect">
            <a:avLst>
              <a:gd name="adj" fmla="val 6857"/>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19" name="Clash protection icon circle"/>
          <p:cNvSpPr/>
          <p:nvPr/>
        </p:nvSpPr>
        <p:spPr>
          <a:xfrm>
            <a:off x="731520" y="3154680"/>
            <a:ext cx="502920" cy="502920"/>
          </a:xfrm>
          <a:prstGeom prst="ellipse">
            <a:avLst/>
          </a:prstGeom>
          <a:solidFill>
            <a:schemeClr val="accent6"/>
          </a:solidFill>
          <a:ln/>
        </p:spPr>
      </p:sp>
      <p:pic>
        <p:nvPicPr>
          <p:cNvPr id="20" name="Clash protection icon" descr="Clash protection icon">    </p:cNvPr>
          <p:cNvPicPr>
            <a:picLocks noChangeAspect="1"/>
          </p:cNvPicPr>
          <p:nvPr/>
        </p:nvPicPr>
        <p:blipFill>
          <a:blip r:embed="rId4"/>
          <a:stretch>
            <a:fillRect/>
          </a:stretch>
        </p:blipFill>
        <p:spPr>
          <a:xfrm>
            <a:off x="857250" y="3280410"/>
            <a:ext cx="251460" cy="251460"/>
          </a:xfrm>
          <a:prstGeom prst="rect">
            <a:avLst/>
          </a:prstGeom>
        </p:spPr>
      </p:pic>
      <p:sp>
        <p:nvSpPr>
          <p:cNvPr id="21" name="Text 15"/>
          <p:cNvSpPr txBox="1"/>
          <p:nvPr/>
        </p:nvSpPr>
        <p:spPr>
          <a:xfrm>
            <a:off x="731520" y="3749040"/>
            <a:ext cx="2194560" cy="274320"/>
          </a:xfrm>
          <a:prstGeom prst="rect">
            <a:avLst/>
          </a:prstGeom>
          <a:noFill/>
          <a:ln/>
        </p:spPr>
        <p:txBody>
          <a:bodyPr wrap="square" lIns="0" tIns="0" rIns="0" bIns="0" rtlCol="0" anchor="t"/>
          <a:lstStyle/>
          <a:p>
            <a:pPr indent="0" marL="0">
              <a:buNone/>
            </a:pPr>
            <a:r>
              <a:rPr lang="en-US" sz="1600" b="1" dirty="0">
                <a:solidFill>
                  <a:schemeClr val="tx1"/>
                </a:solidFill>
              </a:rPr>
              <a:t>Clash protection</a:t>
            </a:r>
            <a:endParaRPr lang="en-US" sz="1600" dirty="0"/>
          </a:p>
        </p:txBody>
      </p:sp>
      <p:sp>
        <p:nvSpPr>
          <p:cNvPr id="22" name="Text 16"/>
          <p:cNvSpPr txBox="1"/>
          <p:nvPr/>
        </p:nvSpPr>
        <p:spPr>
          <a:xfrm>
            <a:off x="731520" y="4041648"/>
            <a:ext cx="2194560" cy="457200"/>
          </a:xfrm>
          <a:prstGeom prst="rect">
            <a:avLst/>
          </a:prstGeom>
          <a:noFill/>
          <a:ln/>
        </p:spPr>
        <p:txBody>
          <a:bodyPr wrap="square" lIns="0" tIns="0" rIns="0" bIns="0" rtlCol="0" anchor="t"/>
          <a:lstStyle/>
          <a:p>
            <a:pPr indent="0" marL="0">
              <a:buNone/>
            </a:pPr>
            <a:r>
              <a:rPr lang="en-US" sz="1400" dirty="0">
                <a:solidFill>
                  <a:schemeClr val="accent4"/>
                </a:solidFill>
              </a:rPr>
              <a:t>Overlapping approvals are blocked</a:t>
            </a:r>
            <a:endParaRPr lang="en-US" sz="1400" dirty="0"/>
          </a:p>
        </p:txBody>
      </p:sp>
      <p:sp>
        <p:nvSpPr>
          <p:cNvPr id="23" name="Feature card 5"/>
          <p:cNvSpPr/>
          <p:nvPr/>
        </p:nvSpPr>
        <p:spPr>
          <a:xfrm>
            <a:off x="3291840" y="2971800"/>
            <a:ext cx="2560320" cy="1600200"/>
          </a:xfrm>
          <a:prstGeom prst="roundRect">
            <a:avLst>
              <a:gd name="adj" fmla="val 6857"/>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24" name="Request tracking icon circle"/>
          <p:cNvSpPr/>
          <p:nvPr/>
        </p:nvSpPr>
        <p:spPr>
          <a:xfrm>
            <a:off x="3474720" y="3154680"/>
            <a:ext cx="502920" cy="502920"/>
          </a:xfrm>
          <a:prstGeom prst="ellipse">
            <a:avLst/>
          </a:prstGeom>
          <a:solidFill>
            <a:schemeClr val="accent6"/>
          </a:solidFill>
          <a:ln/>
        </p:spPr>
      </p:sp>
      <p:pic>
        <p:nvPicPr>
          <p:cNvPr id="25" name="Request tracking icon" descr="Request tracking icon">    </p:cNvPr>
          <p:cNvPicPr>
            <a:picLocks noChangeAspect="1"/>
          </p:cNvPicPr>
          <p:nvPr/>
        </p:nvPicPr>
        <p:blipFill>
          <a:blip r:embed="rId5"/>
          <a:stretch>
            <a:fillRect/>
          </a:stretch>
        </p:blipFill>
        <p:spPr>
          <a:xfrm>
            <a:off x="3600450" y="3280410"/>
            <a:ext cx="251460" cy="251460"/>
          </a:xfrm>
          <a:prstGeom prst="rect">
            <a:avLst/>
          </a:prstGeom>
        </p:spPr>
      </p:pic>
      <p:sp>
        <p:nvSpPr>
          <p:cNvPr id="26" name="Text 19"/>
          <p:cNvSpPr txBox="1"/>
          <p:nvPr/>
        </p:nvSpPr>
        <p:spPr>
          <a:xfrm>
            <a:off x="3474720" y="3749040"/>
            <a:ext cx="2194560" cy="274320"/>
          </a:xfrm>
          <a:prstGeom prst="rect">
            <a:avLst/>
          </a:prstGeom>
          <a:noFill/>
          <a:ln/>
        </p:spPr>
        <p:txBody>
          <a:bodyPr wrap="square" lIns="0" tIns="0" rIns="0" bIns="0" rtlCol="0" anchor="t"/>
          <a:lstStyle/>
          <a:p>
            <a:pPr indent="0" marL="0">
              <a:buNone/>
            </a:pPr>
            <a:r>
              <a:rPr lang="en-US" sz="1600" b="1" dirty="0">
                <a:solidFill>
                  <a:schemeClr val="tx1"/>
                </a:solidFill>
              </a:rPr>
              <a:t>Request tracking</a:t>
            </a:r>
            <a:endParaRPr lang="en-US" sz="1600" dirty="0"/>
          </a:p>
        </p:txBody>
      </p:sp>
      <p:sp>
        <p:nvSpPr>
          <p:cNvPr id="27" name="Text 20"/>
          <p:cNvSpPr txBox="1"/>
          <p:nvPr/>
        </p:nvSpPr>
        <p:spPr>
          <a:xfrm>
            <a:off x="3474720" y="4041648"/>
            <a:ext cx="2194560" cy="457200"/>
          </a:xfrm>
          <a:prstGeom prst="rect">
            <a:avLst/>
          </a:prstGeom>
          <a:noFill/>
          <a:ln/>
        </p:spPr>
        <p:txBody>
          <a:bodyPr wrap="square" lIns="0" tIns="0" rIns="0" bIns="0" rtlCol="0" anchor="t"/>
          <a:lstStyle/>
          <a:p>
            <a:pPr indent="0" marL="0">
              <a:buNone/>
            </a:pPr>
            <a:r>
              <a:rPr lang="en-US" sz="1400" dirty="0">
                <a:solidFill>
                  <a:schemeClr val="accent4"/>
                </a:solidFill>
              </a:rPr>
              <a:t>See Pending, Approved, or Rejected</a:t>
            </a:r>
            <a:endParaRPr lang="en-US" sz="1400" dirty="0"/>
          </a:p>
        </p:txBody>
      </p:sp>
      <p:sp>
        <p:nvSpPr>
          <p:cNvPr id="28" name="Feature card 6"/>
          <p:cNvSpPr/>
          <p:nvPr/>
        </p:nvSpPr>
        <p:spPr>
          <a:xfrm>
            <a:off x="6035040" y="2971800"/>
            <a:ext cx="2560320" cy="1600200"/>
          </a:xfrm>
          <a:prstGeom prst="roundRect">
            <a:avLst>
              <a:gd name="adj" fmla="val 6857"/>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29" name="Secure data icon circle"/>
          <p:cNvSpPr/>
          <p:nvPr/>
        </p:nvSpPr>
        <p:spPr>
          <a:xfrm>
            <a:off x="6217920" y="3154680"/>
            <a:ext cx="502920" cy="502920"/>
          </a:xfrm>
          <a:prstGeom prst="ellipse">
            <a:avLst/>
          </a:prstGeom>
          <a:solidFill>
            <a:schemeClr val="accent6"/>
          </a:solidFill>
          <a:ln/>
        </p:spPr>
      </p:sp>
      <p:pic>
        <p:nvPicPr>
          <p:cNvPr id="30" name="Secure data icon" descr="Secure data icon">    </p:cNvPr>
          <p:cNvPicPr>
            <a:picLocks noChangeAspect="1"/>
          </p:cNvPicPr>
          <p:nvPr/>
        </p:nvPicPr>
        <p:blipFill>
          <a:blip r:embed="rId6"/>
          <a:stretch>
            <a:fillRect/>
          </a:stretch>
        </p:blipFill>
        <p:spPr>
          <a:xfrm>
            <a:off x="6343650" y="3280410"/>
            <a:ext cx="251460" cy="251460"/>
          </a:xfrm>
          <a:prstGeom prst="rect">
            <a:avLst/>
          </a:prstGeom>
        </p:spPr>
      </p:pic>
      <p:sp>
        <p:nvSpPr>
          <p:cNvPr id="31" name="Text 23"/>
          <p:cNvSpPr txBox="1"/>
          <p:nvPr/>
        </p:nvSpPr>
        <p:spPr>
          <a:xfrm>
            <a:off x="6217920" y="3749040"/>
            <a:ext cx="2194560" cy="274320"/>
          </a:xfrm>
          <a:prstGeom prst="rect">
            <a:avLst/>
          </a:prstGeom>
          <a:noFill/>
          <a:ln/>
        </p:spPr>
        <p:txBody>
          <a:bodyPr wrap="square" lIns="0" tIns="0" rIns="0" bIns="0" rtlCol="0" anchor="t"/>
          <a:lstStyle/>
          <a:p>
            <a:pPr indent="0" marL="0">
              <a:buNone/>
            </a:pPr>
            <a:r>
              <a:rPr lang="en-US" sz="1600" b="1" dirty="0">
                <a:solidFill>
                  <a:schemeClr val="tx1"/>
                </a:solidFill>
              </a:rPr>
              <a:t>Secure data</a:t>
            </a:r>
            <a:endParaRPr lang="en-US" sz="1600" dirty="0"/>
          </a:p>
        </p:txBody>
      </p:sp>
      <p:sp>
        <p:nvSpPr>
          <p:cNvPr id="32" name="Text 24"/>
          <p:cNvSpPr txBox="1"/>
          <p:nvPr/>
        </p:nvSpPr>
        <p:spPr>
          <a:xfrm>
            <a:off x="6217920" y="4041648"/>
            <a:ext cx="2194560" cy="457200"/>
          </a:xfrm>
          <a:prstGeom prst="rect">
            <a:avLst/>
          </a:prstGeom>
          <a:noFill/>
          <a:ln/>
        </p:spPr>
        <p:txBody>
          <a:bodyPr wrap="square" lIns="0" tIns="0" rIns="0" bIns="0" rtlCol="0" anchor="t"/>
          <a:lstStyle/>
          <a:p>
            <a:pPr indent="0" marL="0">
              <a:buNone/>
            </a:pPr>
            <a:r>
              <a:rPr lang="en-US" sz="1400" dirty="0">
                <a:solidFill>
                  <a:schemeClr val="accent4"/>
                </a:solidFill>
              </a:rPr>
              <a:t>Row-level security limits who sees what</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Technology stack</a:t>
            </a:r>
            <a:endParaRPr lang="en-US" sz="3400" dirty="0"/>
          </a:p>
        </p:txBody>
      </p:sp>
      <p:sp>
        <p:nvSpPr>
          <p:cNvPr id="3" name="Frontend icon circle"/>
          <p:cNvSpPr/>
          <p:nvPr/>
        </p:nvSpPr>
        <p:spPr>
          <a:xfrm>
            <a:off x="548640" y="1371600"/>
            <a:ext cx="640080" cy="640080"/>
          </a:xfrm>
          <a:prstGeom prst="ellipse">
            <a:avLst/>
          </a:prstGeom>
          <a:solidFill>
            <a:schemeClr val="accent6"/>
          </a:solidFill>
          <a:ln/>
        </p:spPr>
      </p:sp>
      <p:pic>
        <p:nvPicPr>
          <p:cNvPr id="4" name="Frontend icon" descr="Frontend icon">    </p:cNvPr>
          <p:cNvPicPr>
            <a:picLocks noChangeAspect="1"/>
          </p:cNvPicPr>
          <p:nvPr/>
        </p:nvPicPr>
        <p:blipFill>
          <a:blip r:embed="rId1"/>
          <a:stretch>
            <a:fillRect/>
          </a:stretch>
        </p:blipFill>
        <p:spPr>
          <a:xfrm>
            <a:off x="708660" y="1531620"/>
            <a:ext cx="320040" cy="320040"/>
          </a:xfrm>
          <a:prstGeom prst="rect">
            <a:avLst/>
          </a:prstGeom>
        </p:spPr>
      </p:pic>
      <p:sp>
        <p:nvSpPr>
          <p:cNvPr id="5" name="Text 2"/>
          <p:cNvSpPr txBox="1"/>
          <p:nvPr/>
        </p:nvSpPr>
        <p:spPr>
          <a:xfrm>
            <a:off x="1417320" y="1353312"/>
            <a:ext cx="3291840" cy="320040"/>
          </a:xfrm>
          <a:prstGeom prst="rect">
            <a:avLst/>
          </a:prstGeom>
          <a:noFill/>
          <a:ln/>
        </p:spPr>
        <p:txBody>
          <a:bodyPr wrap="square" lIns="0" tIns="0" rIns="0" bIns="0" rtlCol="0" anchor="t"/>
          <a:lstStyle/>
          <a:p>
            <a:pPr indent="0" marL="0">
              <a:buNone/>
            </a:pPr>
            <a:r>
              <a:rPr lang="en-US" sz="1800" b="1" dirty="0">
                <a:solidFill>
                  <a:schemeClr val="tx1"/>
                </a:solidFill>
              </a:rPr>
              <a:t>Frontend</a:t>
            </a:r>
            <a:endParaRPr lang="en-US" sz="1800" dirty="0"/>
          </a:p>
        </p:txBody>
      </p:sp>
      <p:sp>
        <p:nvSpPr>
          <p:cNvPr id="6" name="Text 3"/>
          <p:cNvSpPr txBox="1"/>
          <p:nvPr/>
        </p:nvSpPr>
        <p:spPr>
          <a:xfrm>
            <a:off x="1417320" y="1719072"/>
            <a:ext cx="3291840" cy="365760"/>
          </a:xfrm>
          <a:prstGeom prst="rect">
            <a:avLst/>
          </a:prstGeom>
          <a:noFill/>
          <a:ln/>
        </p:spPr>
        <p:txBody>
          <a:bodyPr wrap="square" lIns="0" tIns="0" rIns="0" bIns="0" rtlCol="0" anchor="t"/>
          <a:lstStyle/>
          <a:p>
            <a:pPr indent="0" marL="0">
              <a:buNone/>
            </a:pPr>
            <a:r>
              <a:rPr lang="en-US" sz="1400" dirty="0">
                <a:solidFill>
                  <a:schemeClr val="accent4"/>
                </a:solidFill>
              </a:rPr>
              <a:t>HTML, CSS, and JavaScript</a:t>
            </a:r>
            <a:endParaRPr lang="en-US" sz="1400" dirty="0"/>
          </a:p>
        </p:txBody>
      </p:sp>
      <p:sp>
        <p:nvSpPr>
          <p:cNvPr id="7" name="Backend icon circle"/>
          <p:cNvSpPr/>
          <p:nvPr/>
        </p:nvSpPr>
        <p:spPr>
          <a:xfrm>
            <a:off x="548640" y="2468880"/>
            <a:ext cx="640080" cy="640080"/>
          </a:xfrm>
          <a:prstGeom prst="ellipse">
            <a:avLst/>
          </a:prstGeom>
          <a:solidFill>
            <a:schemeClr val="accent6"/>
          </a:solidFill>
          <a:ln/>
        </p:spPr>
      </p:sp>
      <p:pic>
        <p:nvPicPr>
          <p:cNvPr id="8" name="Backend icon" descr="Backend icon">    </p:cNvPr>
          <p:cNvPicPr>
            <a:picLocks noChangeAspect="1"/>
          </p:cNvPicPr>
          <p:nvPr/>
        </p:nvPicPr>
        <p:blipFill>
          <a:blip r:embed="rId2"/>
          <a:stretch>
            <a:fillRect/>
          </a:stretch>
        </p:blipFill>
        <p:spPr>
          <a:xfrm>
            <a:off x="708660" y="2628900"/>
            <a:ext cx="320040" cy="320040"/>
          </a:xfrm>
          <a:prstGeom prst="rect">
            <a:avLst/>
          </a:prstGeom>
        </p:spPr>
      </p:pic>
      <p:sp>
        <p:nvSpPr>
          <p:cNvPr id="9" name="Text 5"/>
          <p:cNvSpPr txBox="1"/>
          <p:nvPr/>
        </p:nvSpPr>
        <p:spPr>
          <a:xfrm>
            <a:off x="1417320" y="2450592"/>
            <a:ext cx="3291840" cy="320040"/>
          </a:xfrm>
          <a:prstGeom prst="rect">
            <a:avLst/>
          </a:prstGeom>
          <a:noFill/>
          <a:ln/>
        </p:spPr>
        <p:txBody>
          <a:bodyPr wrap="square" lIns="0" tIns="0" rIns="0" bIns="0" rtlCol="0" anchor="t"/>
          <a:lstStyle/>
          <a:p>
            <a:pPr indent="0" marL="0">
              <a:buNone/>
            </a:pPr>
            <a:r>
              <a:rPr lang="en-US" sz="1800" b="1" dirty="0">
                <a:solidFill>
                  <a:schemeClr val="tx1"/>
                </a:solidFill>
              </a:rPr>
              <a:t>Backend</a:t>
            </a:r>
            <a:endParaRPr lang="en-US" sz="1800" dirty="0"/>
          </a:p>
        </p:txBody>
      </p:sp>
      <p:sp>
        <p:nvSpPr>
          <p:cNvPr id="10" name="Text 6"/>
          <p:cNvSpPr txBox="1"/>
          <p:nvPr/>
        </p:nvSpPr>
        <p:spPr>
          <a:xfrm>
            <a:off x="1417320" y="2816352"/>
            <a:ext cx="3291840" cy="365760"/>
          </a:xfrm>
          <a:prstGeom prst="rect">
            <a:avLst/>
          </a:prstGeom>
          <a:noFill/>
          <a:ln/>
        </p:spPr>
        <p:txBody>
          <a:bodyPr wrap="square" lIns="0" tIns="0" rIns="0" bIns="0" rtlCol="0" anchor="t"/>
          <a:lstStyle/>
          <a:p>
            <a:pPr indent="0" marL="0">
              <a:buNone/>
            </a:pPr>
            <a:r>
              <a:rPr lang="en-US" sz="1400" dirty="0">
                <a:solidFill>
                  <a:schemeClr val="accent4"/>
                </a:solidFill>
              </a:rPr>
              <a:t>Supabase with PostgreSQL and Auth</a:t>
            </a:r>
            <a:endParaRPr lang="en-US" sz="1400" dirty="0"/>
          </a:p>
        </p:txBody>
      </p:sp>
      <p:sp>
        <p:nvSpPr>
          <p:cNvPr id="11" name="Security icon circle"/>
          <p:cNvSpPr/>
          <p:nvPr/>
        </p:nvSpPr>
        <p:spPr>
          <a:xfrm>
            <a:off x="548640" y="3566160"/>
            <a:ext cx="640080" cy="640080"/>
          </a:xfrm>
          <a:prstGeom prst="ellipse">
            <a:avLst/>
          </a:prstGeom>
          <a:solidFill>
            <a:schemeClr val="accent6"/>
          </a:solidFill>
          <a:ln/>
        </p:spPr>
      </p:sp>
      <p:pic>
        <p:nvPicPr>
          <p:cNvPr id="12" name="Security icon" descr="Security icon">    </p:cNvPr>
          <p:cNvPicPr>
            <a:picLocks noChangeAspect="1"/>
          </p:cNvPicPr>
          <p:nvPr/>
        </p:nvPicPr>
        <p:blipFill>
          <a:blip r:embed="rId3"/>
          <a:stretch>
            <a:fillRect/>
          </a:stretch>
        </p:blipFill>
        <p:spPr>
          <a:xfrm>
            <a:off x="708660" y="3726180"/>
            <a:ext cx="320040" cy="320040"/>
          </a:xfrm>
          <a:prstGeom prst="rect">
            <a:avLst/>
          </a:prstGeom>
        </p:spPr>
      </p:pic>
      <p:sp>
        <p:nvSpPr>
          <p:cNvPr id="13" name="Text 8"/>
          <p:cNvSpPr txBox="1"/>
          <p:nvPr/>
        </p:nvSpPr>
        <p:spPr>
          <a:xfrm>
            <a:off x="1417320" y="3547872"/>
            <a:ext cx="3291840" cy="320040"/>
          </a:xfrm>
          <a:prstGeom prst="rect">
            <a:avLst/>
          </a:prstGeom>
          <a:noFill/>
          <a:ln/>
        </p:spPr>
        <p:txBody>
          <a:bodyPr wrap="square" lIns="0" tIns="0" rIns="0" bIns="0" rtlCol="0" anchor="t"/>
          <a:lstStyle/>
          <a:p>
            <a:pPr indent="0" marL="0">
              <a:buNone/>
            </a:pPr>
            <a:r>
              <a:rPr lang="en-US" sz="1800" b="1" dirty="0">
                <a:solidFill>
                  <a:schemeClr val="tx1"/>
                </a:solidFill>
              </a:rPr>
              <a:t>Security</a:t>
            </a:r>
            <a:endParaRPr lang="en-US" sz="1800" dirty="0"/>
          </a:p>
        </p:txBody>
      </p:sp>
      <p:sp>
        <p:nvSpPr>
          <p:cNvPr id="14" name="Text 9"/>
          <p:cNvSpPr txBox="1"/>
          <p:nvPr/>
        </p:nvSpPr>
        <p:spPr>
          <a:xfrm>
            <a:off x="1417320" y="3913632"/>
            <a:ext cx="3291840" cy="365760"/>
          </a:xfrm>
          <a:prstGeom prst="rect">
            <a:avLst/>
          </a:prstGeom>
          <a:noFill/>
          <a:ln/>
        </p:spPr>
        <p:txBody>
          <a:bodyPr wrap="square" lIns="0" tIns="0" rIns="0" bIns="0" rtlCol="0" anchor="t"/>
          <a:lstStyle/>
          <a:p>
            <a:pPr indent="0" marL="0">
              <a:buNone/>
            </a:pPr>
            <a:r>
              <a:rPr lang="en-US" sz="1400" dirty="0">
                <a:solidFill>
                  <a:schemeClr val="accent4"/>
                </a:solidFill>
              </a:rPr>
              <a:t>Row-level security and role checks</a:t>
            </a:r>
            <a:endParaRPr lang="en-US" sz="1400" dirty="0"/>
          </a:p>
        </p:txBody>
      </p:sp>
      <p:sp>
        <p:nvSpPr>
          <p:cNvPr id="15" name="Clash protection card"/>
          <p:cNvSpPr/>
          <p:nvPr/>
        </p:nvSpPr>
        <p:spPr>
          <a:xfrm>
            <a:off x="5120640" y="1280160"/>
            <a:ext cx="3474720" cy="3200400"/>
          </a:xfrm>
          <a:prstGeom prst="roundRect">
            <a:avLst>
              <a:gd name="adj" fmla="val 3429"/>
            </a:avLst>
          </a:prstGeom>
          <a:solidFill>
            <a:schemeClr val="bg2"/>
          </a:solidFill>
          <a:ln w="9525">
            <a:solidFill>
              <a:srgbClr val="DCE6E4"/>
            </a:solidFill>
            <a:prstDash val="solid"/>
          </a:ln>
        </p:spPr>
      </p:sp>
      <p:sp>
        <p:nvSpPr>
          <p:cNvPr id="16" name="Text 11"/>
          <p:cNvSpPr txBox="1"/>
          <p:nvPr/>
        </p:nvSpPr>
        <p:spPr>
          <a:xfrm>
            <a:off x="5394960" y="1508760"/>
            <a:ext cx="2926080" cy="365760"/>
          </a:xfrm>
          <a:prstGeom prst="rect">
            <a:avLst/>
          </a:prstGeom>
          <a:noFill/>
          <a:ln/>
        </p:spPr>
        <p:txBody>
          <a:bodyPr wrap="square" lIns="0" tIns="0" rIns="0" bIns="0" rtlCol="0" anchor="t"/>
          <a:lstStyle/>
          <a:p>
            <a:pPr indent="0" marL="0">
              <a:buNone/>
            </a:pPr>
            <a:r>
              <a:rPr lang="en-US" sz="1800" b="1" dirty="0">
                <a:solidFill>
                  <a:schemeClr val="tx1"/>
                </a:solidFill>
              </a:rPr>
              <a:t>How clashes are blocked</a:t>
            </a:r>
            <a:endParaRPr lang="en-US" sz="1800" dirty="0"/>
          </a:p>
        </p:txBody>
      </p:sp>
      <p:sp>
        <p:nvSpPr>
          <p:cNvPr id="17" name="Text 12"/>
          <p:cNvSpPr txBox="1"/>
          <p:nvPr/>
        </p:nvSpPr>
        <p:spPr>
          <a:xfrm>
            <a:off x="5394960" y="2011680"/>
            <a:ext cx="2926080" cy="1554480"/>
          </a:xfrm>
          <a:prstGeom prst="rect">
            <a:avLst/>
          </a:prstGeom>
          <a:noFill/>
          <a:ln/>
        </p:spPr>
        <p:txBody>
          <a:bodyPr wrap="square" lIns="0" tIns="0" rIns="0" bIns="0" rtlCol="0" anchor="t"/>
          <a:lstStyle/>
          <a:p>
            <a:pPr indent="0" marL="0">
              <a:buNone/>
            </a:pPr>
            <a:r>
              <a:rPr lang="en-US" sz="1400" dirty="0">
                <a:solidFill>
                  <a:schemeClr val="tx1"/>
                </a:solidFill>
              </a:rPr>
              <a:t>A PostgreSQL exclusion constraint rejects a second approved booking for the same room and an overlapping time, even if two requests arrive together.</a:t>
            </a:r>
            <a:endParaRPr lang="en-US" sz="1400" dirty="0"/>
          </a:p>
        </p:txBody>
      </p:sp>
      <p:sp>
        <p:nvSpPr>
          <p:cNvPr id="18" name="Text 13"/>
          <p:cNvSpPr txBox="1"/>
          <p:nvPr/>
        </p:nvSpPr>
        <p:spPr>
          <a:xfrm>
            <a:off x="5394960" y="3749040"/>
            <a:ext cx="2926080" cy="457200"/>
          </a:xfrm>
          <a:prstGeom prst="rect">
            <a:avLst/>
          </a:prstGeom>
          <a:noFill/>
          <a:ln/>
        </p:spPr>
        <p:txBody>
          <a:bodyPr wrap="square" lIns="0" tIns="0" rIns="0" bIns="0" rtlCol="0" anchor="t"/>
          <a:lstStyle/>
          <a:p>
            <a:pPr indent="0" marL="0">
              <a:buNone/>
            </a:pPr>
            <a:r>
              <a:rPr lang="en-US" sz="1400" b="1" dirty="0">
                <a:solidFill>
                  <a:schemeClr val="accent5"/>
                </a:solidFill>
              </a:rPr>
              <a:t>Tables: profiles, rooms, bookings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Expected outcomes</a:t>
            </a:r>
            <a:endParaRPr lang="en-US" sz="3400" dirty="0"/>
          </a:p>
        </p:txBody>
      </p:sp>
      <p:sp>
        <p:nvSpPr>
          <p:cNvPr id="3" name="Outcome card 1"/>
          <p:cNvSpPr/>
          <p:nvPr/>
        </p:nvSpPr>
        <p:spPr>
          <a:xfrm>
            <a:off x="548640" y="1371600"/>
            <a:ext cx="2560320" cy="2468880"/>
          </a:xfrm>
          <a:prstGeom prst="roundRect">
            <a:avLst>
              <a:gd name="adj" fmla="val 4444"/>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4" name="No double bookings icon circle"/>
          <p:cNvSpPr/>
          <p:nvPr/>
        </p:nvSpPr>
        <p:spPr>
          <a:xfrm>
            <a:off x="777240" y="1645920"/>
            <a:ext cx="731520" cy="731520"/>
          </a:xfrm>
          <a:prstGeom prst="ellipse">
            <a:avLst/>
          </a:prstGeom>
          <a:solidFill>
            <a:schemeClr val="accent6"/>
          </a:solidFill>
          <a:ln/>
        </p:spPr>
      </p:sp>
      <p:pic>
        <p:nvPicPr>
          <p:cNvPr id="5" name="No double bookings icon" descr="No double bookings icon">    </p:cNvPr>
          <p:cNvPicPr>
            <a:picLocks noChangeAspect="1"/>
          </p:cNvPicPr>
          <p:nvPr/>
        </p:nvPicPr>
        <p:blipFill>
          <a:blip r:embed="rId1"/>
          <a:stretch>
            <a:fillRect/>
          </a:stretch>
        </p:blipFill>
        <p:spPr>
          <a:xfrm>
            <a:off x="960120" y="1828800"/>
            <a:ext cx="365760" cy="365760"/>
          </a:xfrm>
          <a:prstGeom prst="rect">
            <a:avLst/>
          </a:prstGeom>
        </p:spPr>
      </p:pic>
      <p:sp>
        <p:nvSpPr>
          <p:cNvPr id="6" name="Text 3"/>
          <p:cNvSpPr txBox="1"/>
          <p:nvPr/>
        </p:nvSpPr>
        <p:spPr>
          <a:xfrm>
            <a:off x="777240" y="2697480"/>
            <a:ext cx="2103120" cy="365760"/>
          </a:xfrm>
          <a:prstGeom prst="rect">
            <a:avLst/>
          </a:prstGeom>
          <a:noFill/>
          <a:ln/>
        </p:spPr>
        <p:txBody>
          <a:bodyPr wrap="square" lIns="0" tIns="0" rIns="0" bIns="0" rtlCol="0" anchor="t"/>
          <a:lstStyle/>
          <a:p>
            <a:pPr indent="0" marL="0">
              <a:buNone/>
            </a:pPr>
            <a:r>
              <a:rPr lang="en-US" sz="1800" b="1" dirty="0">
                <a:solidFill>
                  <a:schemeClr val="tx1"/>
                </a:solidFill>
              </a:rPr>
              <a:t>No double bookings</a:t>
            </a:r>
            <a:endParaRPr lang="en-US" sz="1800" dirty="0"/>
          </a:p>
        </p:txBody>
      </p:sp>
      <p:sp>
        <p:nvSpPr>
          <p:cNvPr id="7" name="Text 4"/>
          <p:cNvSpPr txBox="1"/>
          <p:nvPr/>
        </p:nvSpPr>
        <p:spPr>
          <a:xfrm>
            <a:off x="777240" y="3154680"/>
            <a:ext cx="2103120" cy="822960"/>
          </a:xfrm>
          <a:prstGeom prst="rect">
            <a:avLst/>
          </a:prstGeom>
          <a:noFill/>
          <a:ln/>
        </p:spPr>
        <p:txBody>
          <a:bodyPr wrap="square" lIns="0" tIns="0" rIns="0" bIns="0" rtlCol="0" anchor="t"/>
          <a:lstStyle/>
          <a:p>
            <a:pPr indent="0" marL="0">
              <a:buNone/>
            </a:pPr>
            <a:r>
              <a:rPr lang="en-US" sz="1400" dirty="0">
                <a:solidFill>
                  <a:schemeClr val="accent4"/>
                </a:solidFill>
              </a:rPr>
              <a:t>Every approved slot is unique for its room.</a:t>
            </a:r>
            <a:endParaRPr lang="en-US" sz="1400" dirty="0"/>
          </a:p>
        </p:txBody>
      </p:sp>
      <p:sp>
        <p:nvSpPr>
          <p:cNvPr id="8" name="Outcome card 2"/>
          <p:cNvSpPr/>
          <p:nvPr/>
        </p:nvSpPr>
        <p:spPr>
          <a:xfrm>
            <a:off x="3291840" y="1371600"/>
            <a:ext cx="2560320" cy="2468880"/>
          </a:xfrm>
          <a:prstGeom prst="roundRect">
            <a:avLst>
              <a:gd name="adj" fmla="val 4444"/>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9" name="Faster approvals icon circle"/>
          <p:cNvSpPr/>
          <p:nvPr/>
        </p:nvSpPr>
        <p:spPr>
          <a:xfrm>
            <a:off x="3520440" y="1645920"/>
            <a:ext cx="731520" cy="731520"/>
          </a:xfrm>
          <a:prstGeom prst="ellipse">
            <a:avLst/>
          </a:prstGeom>
          <a:solidFill>
            <a:schemeClr val="accent6"/>
          </a:solidFill>
          <a:ln/>
        </p:spPr>
      </p:sp>
      <p:pic>
        <p:nvPicPr>
          <p:cNvPr id="10" name="Faster approvals icon" descr="Faster approvals icon">    </p:cNvPr>
          <p:cNvPicPr>
            <a:picLocks noChangeAspect="1"/>
          </p:cNvPicPr>
          <p:nvPr/>
        </p:nvPicPr>
        <p:blipFill>
          <a:blip r:embed="rId2"/>
          <a:stretch>
            <a:fillRect/>
          </a:stretch>
        </p:blipFill>
        <p:spPr>
          <a:xfrm>
            <a:off x="3703320" y="1828800"/>
            <a:ext cx="365760" cy="365760"/>
          </a:xfrm>
          <a:prstGeom prst="rect">
            <a:avLst/>
          </a:prstGeom>
        </p:spPr>
      </p:pic>
      <p:sp>
        <p:nvSpPr>
          <p:cNvPr id="11" name="Text 7"/>
          <p:cNvSpPr txBox="1"/>
          <p:nvPr/>
        </p:nvSpPr>
        <p:spPr>
          <a:xfrm>
            <a:off x="3520440" y="2697480"/>
            <a:ext cx="2103120" cy="365760"/>
          </a:xfrm>
          <a:prstGeom prst="rect">
            <a:avLst/>
          </a:prstGeom>
          <a:noFill/>
          <a:ln/>
        </p:spPr>
        <p:txBody>
          <a:bodyPr wrap="square" lIns="0" tIns="0" rIns="0" bIns="0" rtlCol="0" anchor="t"/>
          <a:lstStyle/>
          <a:p>
            <a:pPr indent="0" marL="0">
              <a:buNone/>
            </a:pPr>
            <a:r>
              <a:rPr lang="en-US" sz="1800" b="1" dirty="0">
                <a:solidFill>
                  <a:schemeClr val="tx1"/>
                </a:solidFill>
              </a:rPr>
              <a:t>Faster approvals</a:t>
            </a:r>
            <a:endParaRPr lang="en-US" sz="1800" dirty="0"/>
          </a:p>
        </p:txBody>
      </p:sp>
      <p:sp>
        <p:nvSpPr>
          <p:cNvPr id="12" name="Text 8"/>
          <p:cNvSpPr txBox="1"/>
          <p:nvPr/>
        </p:nvSpPr>
        <p:spPr>
          <a:xfrm>
            <a:off x="3520440" y="3154680"/>
            <a:ext cx="2103120" cy="822960"/>
          </a:xfrm>
          <a:prstGeom prst="rect">
            <a:avLst/>
          </a:prstGeom>
          <a:noFill/>
          <a:ln/>
        </p:spPr>
        <p:txBody>
          <a:bodyPr wrap="square" lIns="0" tIns="0" rIns="0" bIns="0" rtlCol="0" anchor="t"/>
          <a:lstStyle/>
          <a:p>
            <a:pPr indent="0" marL="0">
              <a:buNone/>
            </a:pPr>
            <a:r>
              <a:rPr lang="en-US" sz="1400" dirty="0">
                <a:solidFill>
                  <a:schemeClr val="accent4"/>
                </a:solidFill>
              </a:rPr>
              <a:t>Requests reach faculty in one list instead of chats.</a:t>
            </a:r>
            <a:endParaRPr lang="en-US" sz="1400" dirty="0"/>
          </a:p>
        </p:txBody>
      </p:sp>
      <p:sp>
        <p:nvSpPr>
          <p:cNvPr id="13" name="Outcome card 3"/>
          <p:cNvSpPr/>
          <p:nvPr/>
        </p:nvSpPr>
        <p:spPr>
          <a:xfrm>
            <a:off x="6035040" y="1371600"/>
            <a:ext cx="2560320" cy="2468880"/>
          </a:xfrm>
          <a:prstGeom prst="roundRect">
            <a:avLst>
              <a:gd name="adj" fmla="val 4444"/>
            </a:avLst>
          </a:prstGeom>
          <a:solidFill>
            <a:schemeClr val="bg1"/>
          </a:solidFill>
          <a:ln w="9525">
            <a:solidFill>
              <a:srgbClr val="DCE6E4"/>
            </a:solidFill>
            <a:prstDash val="solid"/>
          </a:ln>
          <a:effectLst>
            <a:outerShdw sx="100000" sy="100000" kx="0" ky="0" algn="bl" rotWithShape="0" blurRad="101600" dist="25400" dir="5400000">
              <a:srgbClr val="000000">
                <a:alpha val="8000"/>
              </a:srgbClr>
            </a:outerShdw>
          </a:effectLst>
        </p:spPr>
      </p:sp>
      <p:sp>
        <p:nvSpPr>
          <p:cNvPr id="14" name="Better room use icon circle"/>
          <p:cNvSpPr/>
          <p:nvPr/>
        </p:nvSpPr>
        <p:spPr>
          <a:xfrm>
            <a:off x="6263640" y="1645920"/>
            <a:ext cx="731520" cy="731520"/>
          </a:xfrm>
          <a:prstGeom prst="ellipse">
            <a:avLst/>
          </a:prstGeom>
          <a:solidFill>
            <a:schemeClr val="accent6"/>
          </a:solidFill>
          <a:ln/>
        </p:spPr>
      </p:sp>
      <p:pic>
        <p:nvPicPr>
          <p:cNvPr id="15" name="Better room use icon" descr="Better room use icon">    </p:cNvPr>
          <p:cNvPicPr>
            <a:picLocks noChangeAspect="1"/>
          </p:cNvPicPr>
          <p:nvPr/>
        </p:nvPicPr>
        <p:blipFill>
          <a:blip r:embed="rId3"/>
          <a:stretch>
            <a:fillRect/>
          </a:stretch>
        </p:blipFill>
        <p:spPr>
          <a:xfrm>
            <a:off x="6446520" y="1828800"/>
            <a:ext cx="365760" cy="365760"/>
          </a:xfrm>
          <a:prstGeom prst="rect">
            <a:avLst/>
          </a:prstGeom>
        </p:spPr>
      </p:pic>
      <p:sp>
        <p:nvSpPr>
          <p:cNvPr id="16" name="Text 11"/>
          <p:cNvSpPr txBox="1"/>
          <p:nvPr/>
        </p:nvSpPr>
        <p:spPr>
          <a:xfrm>
            <a:off x="6263640" y="2697480"/>
            <a:ext cx="2103120" cy="365760"/>
          </a:xfrm>
          <a:prstGeom prst="rect">
            <a:avLst/>
          </a:prstGeom>
          <a:noFill/>
          <a:ln/>
        </p:spPr>
        <p:txBody>
          <a:bodyPr wrap="square" lIns="0" tIns="0" rIns="0" bIns="0" rtlCol="0" anchor="t"/>
          <a:lstStyle/>
          <a:p>
            <a:pPr indent="0" marL="0">
              <a:buNone/>
            </a:pPr>
            <a:r>
              <a:rPr lang="en-US" sz="1800" b="1" dirty="0">
                <a:solidFill>
                  <a:schemeClr val="tx1"/>
                </a:solidFill>
              </a:rPr>
              <a:t>Better room use</a:t>
            </a:r>
            <a:endParaRPr lang="en-US" sz="1800" dirty="0"/>
          </a:p>
        </p:txBody>
      </p:sp>
      <p:sp>
        <p:nvSpPr>
          <p:cNvPr id="17" name="Text 12"/>
          <p:cNvSpPr txBox="1"/>
          <p:nvPr/>
        </p:nvSpPr>
        <p:spPr>
          <a:xfrm>
            <a:off x="6263640" y="3154680"/>
            <a:ext cx="2103120" cy="822960"/>
          </a:xfrm>
          <a:prstGeom prst="rect">
            <a:avLst/>
          </a:prstGeom>
          <a:noFill/>
          <a:ln/>
        </p:spPr>
        <p:txBody>
          <a:bodyPr wrap="square" lIns="0" tIns="0" rIns="0" bIns="0" rtlCol="0" anchor="t"/>
          <a:lstStyle/>
          <a:p>
            <a:pPr indent="0" marL="0">
              <a:buNone/>
            </a:pPr>
            <a:r>
              <a:rPr lang="en-US" sz="1400" dirty="0">
                <a:solidFill>
                  <a:schemeClr val="accent4"/>
                </a:solidFill>
              </a:rPr>
              <a:t>Vacant rooms are visible to everyone who needs one.</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1554480"/>
          </a:xfrm>
          <a:prstGeom prst="rect">
            <a:avLst/>
          </a:prstGeom>
          <a:noFill/>
          <a:ln/>
        </p:spPr>
        <p:txBody>
          <a:bodyPr wrap="square" lIns="0" tIns="0" rIns="0" bIns="0" rtlCol="0" anchor="t"/>
          <a:lstStyle/>
          <a:p>
            <a:pPr algn="l" indent="0" marL="0">
              <a:buNone/>
            </a:pPr>
            <a:r>
              <a:rPr lang="en-US" sz="4000" b="1" dirty="0">
                <a:solidFill>
                  <a:schemeClr val="tx1"/>
                </a:solidFill>
              </a:rPr>
              <a:t>Thank you</a:t>
            </a:r>
            <a:endParaRPr lang="en-US" sz="4000" dirty="0"/>
          </a:p>
        </p:txBody>
      </p:sp>
      <p:sp>
        <p:nvSpPr>
          <p:cNvPr id="3" name="Text 0"/>
          <p:cNvSpPr/>
          <p:nvPr>
            <p:ph idx="101" type="body" hasCustomPrompt="1"/>
          </p:nvPr>
        </p:nvSpPr>
        <p:spPr>
          <a:xfrm>
            <a:off x="548640" y="2926080"/>
            <a:ext cx="4754880" cy="822960"/>
          </a:xfrm>
          <a:prstGeom prst="rect">
            <a:avLst/>
          </a:prstGeom>
          <a:noFill/>
          <a:ln/>
        </p:spPr>
        <p:txBody>
          <a:bodyPr wrap="square" lIns="0" tIns="0" rIns="0" bIns="0" rtlCol="0" anchor="t"/>
          <a:lstStyle/>
          <a:p>
            <a:pPr indent="0" marL="0">
              <a:buNone/>
            </a:pPr>
            <a:r>
              <a:rPr lang="en-US" sz="1800" dirty="0">
                <a:solidFill>
                  <a:schemeClr val="accent4"/>
                </a:solidFill>
              </a:rPr>
              <a:t>Questions and suggestions are welcome.</a:t>
            </a:r>
            <a:endParaRPr lang="en-US" sz="1800" dirty="0"/>
          </a:p>
        </p:txBody>
      </p:sp>
      <p:sp>
        <p:nvSpPr>
          <p:cNvPr id="4" name="Slot 0-0"/>
          <p:cNvSpPr/>
          <p:nvPr/>
        </p:nvSpPr>
        <p:spPr>
          <a:xfrm>
            <a:off x="6035040" y="1005840"/>
            <a:ext cx="548640" cy="548640"/>
          </a:xfrm>
          <a:prstGeom prst="roundRect">
            <a:avLst>
              <a:gd name="adj" fmla="val 13333"/>
            </a:avLst>
          </a:prstGeom>
          <a:solidFill>
            <a:schemeClr val="accent6"/>
          </a:solidFill>
          <a:ln/>
        </p:spPr>
      </p:sp>
      <p:sp>
        <p:nvSpPr>
          <p:cNvPr id="5" name="Slot 0-1"/>
          <p:cNvSpPr/>
          <p:nvPr/>
        </p:nvSpPr>
        <p:spPr>
          <a:xfrm>
            <a:off x="6693408" y="1005840"/>
            <a:ext cx="548640" cy="548640"/>
          </a:xfrm>
          <a:prstGeom prst="roundRect">
            <a:avLst>
              <a:gd name="adj" fmla="val 13333"/>
            </a:avLst>
          </a:prstGeom>
          <a:solidFill>
            <a:schemeClr val="accent1"/>
          </a:solidFill>
          <a:ln/>
        </p:spPr>
      </p:sp>
      <p:sp>
        <p:nvSpPr>
          <p:cNvPr id="6" name="Slot 0-2"/>
          <p:cNvSpPr/>
          <p:nvPr/>
        </p:nvSpPr>
        <p:spPr>
          <a:xfrm>
            <a:off x="7351776" y="1005840"/>
            <a:ext cx="548640" cy="548640"/>
          </a:xfrm>
          <a:prstGeom prst="roundRect">
            <a:avLst>
              <a:gd name="adj" fmla="val 13333"/>
            </a:avLst>
          </a:prstGeom>
          <a:solidFill>
            <a:schemeClr val="accent6"/>
          </a:solidFill>
          <a:ln/>
        </p:spPr>
      </p:sp>
      <p:sp>
        <p:nvSpPr>
          <p:cNvPr id="7" name="Slot 0-3"/>
          <p:cNvSpPr/>
          <p:nvPr/>
        </p:nvSpPr>
        <p:spPr>
          <a:xfrm>
            <a:off x="8010144" y="1005840"/>
            <a:ext cx="548640" cy="548640"/>
          </a:xfrm>
          <a:prstGeom prst="roundRect">
            <a:avLst>
              <a:gd name="adj" fmla="val 13333"/>
            </a:avLst>
          </a:prstGeom>
          <a:solidFill>
            <a:schemeClr val="accent6"/>
          </a:solidFill>
          <a:ln/>
        </p:spPr>
      </p:sp>
      <p:sp>
        <p:nvSpPr>
          <p:cNvPr id="8" name="Slot 1-0"/>
          <p:cNvSpPr/>
          <p:nvPr/>
        </p:nvSpPr>
        <p:spPr>
          <a:xfrm>
            <a:off x="6035040" y="1664208"/>
            <a:ext cx="548640" cy="548640"/>
          </a:xfrm>
          <a:prstGeom prst="roundRect">
            <a:avLst>
              <a:gd name="adj" fmla="val 13333"/>
            </a:avLst>
          </a:prstGeom>
          <a:solidFill>
            <a:schemeClr val="accent1"/>
          </a:solidFill>
          <a:ln/>
        </p:spPr>
      </p:sp>
      <p:sp>
        <p:nvSpPr>
          <p:cNvPr id="9" name="Slot 1-1"/>
          <p:cNvSpPr/>
          <p:nvPr/>
        </p:nvSpPr>
        <p:spPr>
          <a:xfrm>
            <a:off x="6693408" y="1664208"/>
            <a:ext cx="548640" cy="548640"/>
          </a:xfrm>
          <a:prstGeom prst="roundRect">
            <a:avLst>
              <a:gd name="adj" fmla="val 13333"/>
            </a:avLst>
          </a:prstGeom>
          <a:solidFill>
            <a:schemeClr val="accent1"/>
          </a:solidFill>
          <a:ln/>
        </p:spPr>
      </p:sp>
      <p:sp>
        <p:nvSpPr>
          <p:cNvPr id="10" name="Slot 1-2"/>
          <p:cNvSpPr/>
          <p:nvPr/>
        </p:nvSpPr>
        <p:spPr>
          <a:xfrm>
            <a:off x="7351776" y="1664208"/>
            <a:ext cx="548640" cy="548640"/>
          </a:xfrm>
          <a:prstGeom prst="roundRect">
            <a:avLst>
              <a:gd name="adj" fmla="val 13333"/>
            </a:avLst>
          </a:prstGeom>
          <a:solidFill>
            <a:schemeClr val="accent6"/>
          </a:solidFill>
          <a:ln/>
        </p:spPr>
      </p:sp>
      <p:sp>
        <p:nvSpPr>
          <p:cNvPr id="11" name="Slot 1-3"/>
          <p:cNvSpPr/>
          <p:nvPr/>
        </p:nvSpPr>
        <p:spPr>
          <a:xfrm>
            <a:off x="8010144" y="1664208"/>
            <a:ext cx="548640" cy="548640"/>
          </a:xfrm>
          <a:prstGeom prst="roundRect">
            <a:avLst>
              <a:gd name="adj" fmla="val 13333"/>
            </a:avLst>
          </a:prstGeom>
          <a:solidFill>
            <a:schemeClr val="accent2"/>
          </a:solidFill>
          <a:ln/>
        </p:spPr>
      </p:sp>
      <p:sp>
        <p:nvSpPr>
          <p:cNvPr id="12" name="Slot 2-0"/>
          <p:cNvSpPr/>
          <p:nvPr/>
        </p:nvSpPr>
        <p:spPr>
          <a:xfrm>
            <a:off x="6035040" y="2322576"/>
            <a:ext cx="548640" cy="548640"/>
          </a:xfrm>
          <a:prstGeom prst="roundRect">
            <a:avLst>
              <a:gd name="adj" fmla="val 13333"/>
            </a:avLst>
          </a:prstGeom>
          <a:solidFill>
            <a:schemeClr val="accent6"/>
          </a:solidFill>
          <a:ln/>
        </p:spPr>
      </p:sp>
      <p:sp>
        <p:nvSpPr>
          <p:cNvPr id="13" name="Slot 2-1"/>
          <p:cNvSpPr/>
          <p:nvPr/>
        </p:nvSpPr>
        <p:spPr>
          <a:xfrm>
            <a:off x="6693408" y="2322576"/>
            <a:ext cx="548640" cy="548640"/>
          </a:xfrm>
          <a:prstGeom prst="roundRect">
            <a:avLst>
              <a:gd name="adj" fmla="val 13333"/>
            </a:avLst>
          </a:prstGeom>
          <a:solidFill>
            <a:schemeClr val="accent6"/>
          </a:solidFill>
          <a:ln/>
        </p:spPr>
      </p:sp>
      <p:sp>
        <p:nvSpPr>
          <p:cNvPr id="14" name="Slot 2-2"/>
          <p:cNvSpPr/>
          <p:nvPr/>
        </p:nvSpPr>
        <p:spPr>
          <a:xfrm>
            <a:off x="7351776" y="2322576"/>
            <a:ext cx="548640" cy="548640"/>
          </a:xfrm>
          <a:prstGeom prst="roundRect">
            <a:avLst>
              <a:gd name="adj" fmla="val 13333"/>
            </a:avLst>
          </a:prstGeom>
          <a:solidFill>
            <a:schemeClr val="accent1"/>
          </a:solidFill>
          <a:ln/>
        </p:spPr>
      </p:sp>
      <p:sp>
        <p:nvSpPr>
          <p:cNvPr id="15" name="Slot 2-3"/>
          <p:cNvSpPr/>
          <p:nvPr/>
        </p:nvSpPr>
        <p:spPr>
          <a:xfrm>
            <a:off x="8010144" y="2322576"/>
            <a:ext cx="548640" cy="548640"/>
          </a:xfrm>
          <a:prstGeom prst="roundRect">
            <a:avLst>
              <a:gd name="adj" fmla="val 13333"/>
            </a:avLst>
          </a:prstGeom>
          <a:solidFill>
            <a:schemeClr val="accent6"/>
          </a:solidFill>
          <a:ln/>
        </p:spPr>
      </p:sp>
      <p:sp>
        <p:nvSpPr>
          <p:cNvPr id="16" name="Slot 3-0"/>
          <p:cNvSpPr/>
          <p:nvPr/>
        </p:nvSpPr>
        <p:spPr>
          <a:xfrm>
            <a:off x="6035040" y="2980944"/>
            <a:ext cx="548640" cy="548640"/>
          </a:xfrm>
          <a:prstGeom prst="roundRect">
            <a:avLst>
              <a:gd name="adj" fmla="val 13333"/>
            </a:avLst>
          </a:prstGeom>
          <a:solidFill>
            <a:schemeClr val="accent2"/>
          </a:solidFill>
          <a:ln/>
        </p:spPr>
      </p:sp>
      <p:sp>
        <p:nvSpPr>
          <p:cNvPr id="17" name="Slot 3-1"/>
          <p:cNvSpPr/>
          <p:nvPr/>
        </p:nvSpPr>
        <p:spPr>
          <a:xfrm>
            <a:off x="6693408" y="2980944"/>
            <a:ext cx="548640" cy="548640"/>
          </a:xfrm>
          <a:prstGeom prst="roundRect">
            <a:avLst>
              <a:gd name="adj" fmla="val 13333"/>
            </a:avLst>
          </a:prstGeom>
          <a:solidFill>
            <a:schemeClr val="accent6"/>
          </a:solidFill>
          <a:ln/>
        </p:spPr>
      </p:sp>
      <p:sp>
        <p:nvSpPr>
          <p:cNvPr id="18" name="Slot 3-2"/>
          <p:cNvSpPr/>
          <p:nvPr/>
        </p:nvSpPr>
        <p:spPr>
          <a:xfrm>
            <a:off x="7351776" y="2980944"/>
            <a:ext cx="548640" cy="548640"/>
          </a:xfrm>
          <a:prstGeom prst="roundRect">
            <a:avLst>
              <a:gd name="adj" fmla="val 13333"/>
            </a:avLst>
          </a:prstGeom>
          <a:solidFill>
            <a:schemeClr val="accent1"/>
          </a:solidFill>
          <a:ln/>
        </p:spPr>
      </p:sp>
      <p:sp>
        <p:nvSpPr>
          <p:cNvPr id="19" name="Slot 3-3"/>
          <p:cNvSpPr/>
          <p:nvPr/>
        </p:nvSpPr>
        <p:spPr>
          <a:xfrm>
            <a:off x="8010144" y="2980944"/>
            <a:ext cx="548640" cy="548640"/>
          </a:xfrm>
          <a:prstGeom prst="roundRect">
            <a:avLst>
              <a:gd name="adj" fmla="val 13333"/>
            </a:avLst>
          </a:prstGeom>
          <a:solidFill>
            <a:schemeClr val="accent1"/>
          </a:solidFill>
          <a:ln/>
        </p:spPr>
      </p:sp>
      <p:sp>
        <p:nvSpPr>
          <p:cNvPr id="20" name="Slot 4-0"/>
          <p:cNvSpPr/>
          <p:nvPr/>
        </p:nvSpPr>
        <p:spPr>
          <a:xfrm>
            <a:off x="6035040" y="3639312"/>
            <a:ext cx="548640" cy="548640"/>
          </a:xfrm>
          <a:prstGeom prst="roundRect">
            <a:avLst>
              <a:gd name="adj" fmla="val 13333"/>
            </a:avLst>
          </a:prstGeom>
          <a:solidFill>
            <a:schemeClr val="accent6"/>
          </a:solidFill>
          <a:ln/>
        </p:spPr>
      </p:sp>
      <p:sp>
        <p:nvSpPr>
          <p:cNvPr id="21" name="Slot 4-1"/>
          <p:cNvSpPr/>
          <p:nvPr/>
        </p:nvSpPr>
        <p:spPr>
          <a:xfrm>
            <a:off x="6693408" y="3639312"/>
            <a:ext cx="548640" cy="548640"/>
          </a:xfrm>
          <a:prstGeom prst="roundRect">
            <a:avLst>
              <a:gd name="adj" fmla="val 13333"/>
            </a:avLst>
          </a:prstGeom>
          <a:solidFill>
            <a:schemeClr val="accent1"/>
          </a:solidFill>
          <a:ln/>
        </p:spPr>
      </p:sp>
      <p:sp>
        <p:nvSpPr>
          <p:cNvPr id="22" name="Slot 4-2"/>
          <p:cNvSpPr/>
          <p:nvPr/>
        </p:nvSpPr>
        <p:spPr>
          <a:xfrm>
            <a:off x="7351776" y="3639312"/>
            <a:ext cx="548640" cy="548640"/>
          </a:xfrm>
          <a:prstGeom prst="roundRect">
            <a:avLst>
              <a:gd name="adj" fmla="val 13333"/>
            </a:avLst>
          </a:prstGeom>
          <a:solidFill>
            <a:schemeClr val="accent6"/>
          </a:solidFill>
          <a:ln/>
        </p:spPr>
      </p:sp>
      <p:sp>
        <p:nvSpPr>
          <p:cNvPr id="23" name="Slot 4-3"/>
          <p:cNvSpPr/>
          <p:nvPr/>
        </p:nvSpPr>
        <p:spPr>
          <a:xfrm>
            <a:off x="8010144" y="3639312"/>
            <a:ext cx="548640" cy="548640"/>
          </a:xfrm>
          <a:prstGeom prst="roundRect">
            <a:avLst>
              <a:gd name="adj" fmla="val 13333"/>
            </a:avLst>
          </a:prstGeom>
          <a:solidFill>
            <a:schemeClr val="accent6"/>
          </a:solidFill>
          <a:ln/>
        </p:spPr>
      </p:sp>
    </p:spTree>
  </p:cSld>
  <p:clrMapOvr>
    <a:masterClrMapping/>
  </p:clrMapOvr>
</p:sld>
</file>

<file path=ppt/theme/theme1.xml><?xml version="1.0" encoding="utf-8"?>
<a:theme xmlns:a="http://schemas.openxmlformats.org/drawingml/2006/main" name="Roomwise White">
  <a:themeElements>
    <a:clrScheme name="Roomwise White">
      <a:dk1>
        <a:srgbClr val="0F2A2E"/>
      </a:dk1>
      <a:lt1>
        <a:srgbClr val="FFFFFF"/>
      </a:lt1>
      <a:dk2>
        <a:srgbClr val="0F766E"/>
      </a:dk2>
      <a:lt2>
        <a:srgbClr val="EAF6F4"/>
      </a:lt2>
      <a:accent1>
        <a:srgbClr val="0F766E"/>
      </a:accent1>
      <a:accent2>
        <a:srgbClr val="F5B83D"/>
      </a:accent2>
      <a:accent3>
        <a:srgbClr val="C0392B"/>
      </a:accent3>
      <a:accent4>
        <a:srgbClr val="5B6B75"/>
      </a:accent4>
      <a:accent5>
        <a:srgbClr val="0A5C56"/>
      </a:accent5>
      <a:accent6>
        <a:srgbClr val="CDEDE6"/>
      </a:accent6>
      <a:hlink>
        <a:srgbClr val="0F766E"/>
      </a:hlink>
      <a:folHlink>
        <a:srgbClr val="5B6B75"/>
      </a:folHlink>
    </a:clrScheme>
    <a:fontScheme name="Roomwise Whi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Roomwise: Lab and Classroom Booking System</dc:title>
  <dc:subject>PptxGenJS Presentation</dc:subject>
  <dc:creator>Tony</dc:creator>
  <cp:lastModifiedBy>Tony</cp:lastModifiedBy>
  <cp:revision>1</cp:revision>
  <dcterms:created xsi:type="dcterms:W3CDTF">2026-10-27T04:52:46Z</dcterms:created>
  <dcterms:modified xsi:type="dcterms:W3CDTF">2026-10-27T04:52:46Z</dcterms:modified>
</cp:coreProperties>
</file>